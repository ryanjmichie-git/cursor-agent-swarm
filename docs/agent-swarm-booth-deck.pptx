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
  </p:notesMasterIdLst>
  <p:sldIdLst>
    <p:sldId id="258" r:id="rId2"/>
    <p:sldId id="259" r:id="rId12"/>
    <p:sldId id="260" r:id="rId13"/>
    <p:sldId id="261" r:id="rId14"/>
    <p:sldId id="262" r:id="rId15"/>
    <p:sldId id="263" r:id="rId16"/>
    <p:sldId id="264" r:id="rId17"/>
    <p:sldId id="265" r:id="rId18"/>
  </p:sldIdLst>
  <p:sldSz cx="12192000" cy="6858000"/>
  <p:notesSz cx="6858000" cy="12192000"/>
  <p:embeddedFontLst>
    <p:embeddedFont>
      <p:font typeface="JetBrains Mono" panose="020B0604020202020204" charset="0"/>
      <p:regular r:id="rId4"/>
      <p:bold r:id="rId5"/>
    </p:embeddedFont>
    <p:embeddedFont>
      <p:font typeface="Space Grotesk" panose="020B0604020202020204" charset="0"/>
      <p:regular r:id="rId6"/>
      <p:bold r:id="rId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1994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OPTION C — “The Take-Home.” Best if you want the QR to do the selling: it leads with what people leave with, and the QR is the biggest thing on screen. Check before you present: make the four repo items match what’s actually in your repo (agent roles, AGENTS.md, hooks, skills, per your demo description). 2-minute beats: 1. Open with the promise (15s): “By the time you leave tonight, you can have your own team of coding agents.” 2. The demo (35s): at Station [#], a Grok Build swarm builds a working website in about five minutes. A planner fans the work out to frontend, tester and reviewer agents running in parallel. 3. Why it beats one chat (25s): specialists with their own context, isolated worktrees, and a Stop hook that won’t accept “done” until checks pass. 4. Walk the right panel (25s): agent definitions, AGENTS.md, hooks, skills. These are the exact files from the demo, not a toy version. 5. The ask (20s): “Scan, clone, run it on your own project tonight. Come find me at Station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We did four things in two days.</a:t>
            </a:r>
          </a:p>
          <a:p>
            <a:r>
              <a:t>1. We built a small website repo for a swarm of agents.</a:t>
            </a:r>
          </a:p>
          <a:p>
            <a:r>
              <a:t>2. We rehearsed the live demo. Three agents built three sections at the same time. In step 6 we planted a type error. The gate blocked the agent (4.3 s), and the agent removed the error. The turn took 1 min 11 s.</a:t>
            </a:r>
          </a:p>
          <a:p>
            <a:r>
              <a:t>3. We ran a bake-off: a dashboard build with 4 setups, and a fix of 16 planted defects in an 8-screen app with 3 setups. One run each.</a:t>
            </a:r>
          </a:p>
          <a:p>
            <a:r>
              <a:t>4. We added a learning loop: team lessons and checks.</a:t>
            </a:r>
          </a:p>
          <a:p>
            <a:r>
              <a:t>Sources: cursor-agent-swarm HANDOFF.md (Acceptance status, dry run); grok-bakeoff/harness/HANDOFF.md.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Read the table left to right.</a:t>
            </a:r>
          </a:p>
          <a:p>
            <a:r>
              <a:t>Task 1: every Grok Build setup met 11 of 11 spec items. The chat met 10 of 11: its bar chart rendered empty.</a:t>
            </a:r>
          </a:p>
          <a:p>
            <a:r>
              <a:t>Task 2: the swarm and the single agent fixed 16 of 16 defects. The chat fixed 0 of 16: it committed one screen as a placeholder line, so the app did not load.</a:t>
            </a:r>
          </a:p>
          <a:p>
            <a:r>
              <a:t>The swarm cost about 4 times the single agent on task 2 ($25.94 against $6.40) for the same result.</a:t>
            </a:r>
          </a:p>
          <a:p>
            <a:r>
              <a:t>Caveat: one run per setup. These are pilot numbers, not ranges. Cost is Grok usage summed over every session in a run. Chat cost was not measured.</a:t>
            </a:r>
          </a:p>
          <a:p>
            <a:r>
              <a:t>Sources: grok-bakeoff/harness/results/scores.csv and sweep-results/scores.csv.</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Same task, same spec, same sample data.</a:t>
            </a:r>
          </a:p>
          <a:p>
            <a:r>
              <a:t>Left: grok.com chat. The numbers are right, but the bar chart is empty. Each bar's height is a percentage of a parent with no set height, so every bar renders at zero (grok-bakeoff-arena run/web-1, components/Dashboard.tsx lines 229 to 237). The build passed. Only a look at the rendered page shows the problem.</a:t>
            </a:r>
          </a:p>
          <a:p>
            <a:r>
              <a:t>Right: the Grok Build swarm. All 12 months render as bars.</a:t>
            </a:r>
          </a:p>
          <a:p>
            <a:r>
              <a:t>Be fair: the single agent and the standard spawned agents also drew the chart (11 of 11).</a:t>
            </a:r>
          </a:p>
          <a:p>
            <a:r>
              <a:t>This miss is now a team lesson: check the rendered chart, not only the build.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Same app, same list of issues, same 35-minute cap.</a:t>
            </a:r>
          </a:p>
          <a:p>
            <a:r>
              <a:t>Left: grok.com chat. It committed Spending.vue as one line, PLACEHOLDER_FOR_SPENDING_CONTENT (grok-bakeoff-sweep commit 9669ea8). The app cannot compile that file, so every screen shows this error. Score: 0 of 16. Its pull request also claimed a Dashboard fix that is not in its diff.</a:t>
            </a:r>
          </a:p>
          <a:p>
            <a:r>
              <a:t>Right: the Grok Build swarm. All 8 screens load. It fixed 16 of 16 planted defects.</a:t>
            </a:r>
          </a:p>
          <a:p>
            <a:r>
              <a:t>Be fair: with Spending.vue restored by hand, the chat's work scored 12 of 16 (sweep-results/scores.csv, diagnostic row). The single agent also fixed 16 of 16, for $6.40 against the swarm's $25.94.</a:t>
            </a:r>
          </a:p>
          <a:p>
            <a:r>
              <a:t>Both misses are now team lessons, and the placeholder one is an automatic check.</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Main point: the research agrees with our results. Guardrails decide whether AI helps. More agents add cost.</a:t>
            </a:r>
          </a:p>
          <a:p>
            <a:r>
              <a:t>Left side:</a:t>
            </a:r>
          </a:p>
          <a:p>
            <a:r>
              <a:t>- DORA 2025: 90% of nearly 5,000 respondents use AI at work. Quote: "AI doesn't fix a team; it amplifies what's already there." Without strong automated testing and fast feedback, more change brings instability. https://cloud.google.com/blog/products/ai-machine-learning/announcing-the-2025-dora-report</a:t>
            </a:r>
          </a:p>
          <a:p>
            <a:r>
              <a:t>- Stack Overflow 2025: 46% distrust the accuracy of AI tools; 33% trust it (33,244 responses). https://survey.stackoverflow.co/2025/ai</a:t>
            </a:r>
          </a:p>
          <a:p>
            <a:r>
              <a:t>- Anthropic: multi-agent systems use about 15x more tokens than chats. Their multi-agent system beat a single agent by 90.2% on an internal research eval, but "most coding tasks involve fewer truly parallelizable tasks than research." https://www.anthropic.com/engineering/multi-agent-research-system</a:t>
            </a:r>
          </a:p>
          <a:p>
            <a:r>
              <a:t>Right side:</a:t>
            </a:r>
          </a:p>
          <a:p>
            <a:r>
              <a:t>- Lee Robinson, Cursor blog, Jan 9, 2026: "Add rules only when you notice the agent making the same mistake repeatedly." The same post says: "Check your rules into git so your whole team benefits." https://cursor.com/blog/agent-best-practices</a:t>
            </a:r>
          </a:p>
          <a:p>
            <a:r>
              <a:t>- Lauren Tan, pstack plugin README in cursor/plugins: "Encode the rule as a lint, metadata flag, runtime check, or script instead of more text." https://github.com/cursor/plugins/tree/main/pstack</a:t>
            </a:r>
          </a:p>
          <a:p>
            <a:r>
              <a:t>- Andrej Karpathy, YC AI Startup School, Jun 17, 2025: AI does the generation; people do the verification; keep that loop fast. https://www.youtube.com/watch?v=LCEmiRjPEtQ</a:t>
            </a:r>
          </a:p>
          <a:p>
            <a:r>
              <a:t>Check before you present: the Karpathy words come from a third-party transcript (singjupost.com). Confirm them against the video.</a:t>
            </a:r>
          </a:p>
          <a:p>
            <a:r>
              <a:t>Current roles: Lee Robinson now works at SpaceX (formerly Cursor). Lauren Tan now works at xAI. Karpathy joined Anthropic in May 2026. The quotes date from the sources above.</a:t>
            </a:r>
          </a:p>
          <a:p>
            <a:r>
              <a:t>Left out: the METR 2025 slowdown study. METR now marks those results as out of date.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ranking is our judgment from one run per setup.</a:t>
            </a:r>
          </a:p>
          <a:p>
            <a:r>
              <a:t>1. The spec: every Grok Build setup met 11 of 11 spec items (scores.csv, checklist).</a:t>
            </a:r>
          </a:p>
          <a:p>
            <a:r>
              <a:t>2. The gate: it caught the planted type error in rehearsal. In the bake-off it never had to block. Its value is the guarantee that no turn ends with failing checks.</a:t>
            </a:r>
          </a:p>
          <a:p>
            <a:r>
              <a:t>3. Agent roles: the reviewer caught a border at 2.63:1 contrast. WCAG 2.2 asks for 3:1. The swarm fixed it before it finished.</a:t>
            </a:r>
          </a:p>
          <a:p>
            <a:r>
              <a:t>4. Shared rules: one owner per file. Three agents built at the same time with no collisions.</a:t>
            </a:r>
          </a:p>
          <a:p>
            <a:r>
              <a:t>5. Skills: the website-swarm skill runs plan, build, wire and review the same way each time.</a:t>
            </a:r>
          </a:p>
          <a:p>
            <a:r>
              <a:t>6. Team lessons: new this week. We have no run data on them yet.</a:t>
            </a:r>
          </a:p>
          <a:p>
            <a:r>
              <a:t>7. Launchers: the demo loads only the repo's setup, not the presenter's personal setup.</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with five steps. Each one is small.</a:t>
            </a:r>
          </a:p>
          <a:p>
            <a:r>
              <a:t>1. Clone the repo and run the demo.</a:t>
            </a:r>
          </a:p>
          <a:p>
            <a:r>
              <a:t>2. Write one AGENTS.md: stack, commands, and file owners.</a:t>
            </a:r>
          </a:p>
          <a:p>
            <a:r>
              <a:t>3. Add one gate. Done means the tests pass.</a:t>
            </a:r>
          </a:p>
          <a:p>
            <a:r>
              <a:t>4. Add a reviewer before more builders. In our fix task, the swarm cost $25.94 and the single agent cost $6.40 for the same 16 of 16 result.</a:t>
            </a:r>
          </a:p>
          <a:p>
            <a:r>
              <a:t>5. Measure one real task. Turn each repeat mistake into a check.</a:t>
            </a:r>
          </a:p>
          <a:p>
            <a:r>
              <a:t>Then point to the QR code and the team guide, docs/TEAM-WORKFLOW.md.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7280027" cy="987425"/>
          </a:xfrm>
          <a:prstGeom prst="rect">
            <a:avLst/>
          </a:prstGeom>
          <a:noFill/>
          <a:ln/>
        </p:spPr>
        <p:txBody>
          <a:bodyPr wrap="square" lIns="0" tIns="0" rIns="0" bIns="0" rtlCol="0" anchor="t"/>
          <a:lstStyle>
            <a:lvl1pPr marL="0" indent="0" algn="l">
              <a:lnSpc>
                <a:spcPct val="110000"/>
              </a:lnSpc>
              <a:buNone/>
              <a:defRPr lang="en-US" sz="3600" dirty="0">
                <a:solidFill>
                  <a:srgbClr val="14191F"/>
                </a:solidFill>
                <a:latin typeface="Space Grotesk" pitchFamily="34" charset="0"/>
                <a:ea typeface="Space Grotesk" pitchFamily="34" charset="-122"/>
                <a:cs typeface="Space Grotesk" pitchFamily="34" charset="-120"/>
              </a:defRPr>
            </a:lvl1pPr>
          </a:lstStyle>
          <a:p>
            <a:pPr marL="0" indent="0" algn="l">
              <a:lnSpc>
                <a:spcPct val="110000"/>
              </a:lnSpc>
              <a:buNone/>
            </a:pPr>
            <a:endParaRPr lang="en-US" sz="3600" dirty="0"/>
          </a:p>
        </p:txBody>
      </p:sp>
      <p:sp>
        <p:nvSpPr>
          <p:cNvPr id="3" name="Text Placeholder 2"/>
          <p:cNvSpPr>
            <a:spLocks noGrp="1"/>
          </p:cNvSpPr>
          <p:nvPr>
            <p:ph type="body" idx="101"/>
          </p:nvPr>
        </p:nvSpPr>
        <p:spPr>
          <a:xfrm>
            <a:off x="812800" y="2369145"/>
            <a:ext cx="10566400" cy="3676055"/>
          </a:xfrm>
          <a:prstGeom prst="rect">
            <a:avLst/>
          </a:prstGeom>
          <a:noFill/>
          <a:ln/>
        </p:spPr>
        <p:txBody>
          <a:bodyPr wrap="square" lIns="0" tIns="0" rIns="0" bIns="0" rtlCol="0" anchor="t"/>
          <a:lstStyle>
            <a:lvl1pPr marL="0" indent="0" algn="l">
              <a:lnSpc>
                <a:spcPct val="140000"/>
              </a:lnSpc>
              <a:buNone/>
              <a:defRPr lang="en-US" sz="1600" dirty="0">
                <a:solidFill>
                  <a:srgbClr val="14191F"/>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7280027" cy="987425"/>
          </a:xfrm>
          <a:prstGeom prst="rect">
            <a:avLst/>
          </a:prstGeom>
          <a:noFill/>
          <a:ln/>
        </p:spPr>
        <p:txBody>
          <a:bodyPr wrap="square" lIns="0" tIns="0" rIns="0" bIns="0" rtlCol="0" anchor="t"/>
          <a:lstStyle>
            <a:lvl1pPr marL="0" indent="0" algn="l">
              <a:lnSpc>
                <a:spcPct val="110000"/>
              </a:lnSpc>
              <a:buNone/>
              <a:defRPr lang="en-US" sz="3600" dirty="0">
                <a:solidFill>
                  <a:srgbClr val="14191F"/>
                </a:solidFill>
                <a:latin typeface="Space Grotesk" pitchFamily="34" charset="0"/>
                <a:ea typeface="Space Grotesk" pitchFamily="34" charset="-122"/>
                <a:cs typeface="Space Grotesk" pitchFamily="34" charset="-120"/>
              </a:defRPr>
            </a:lvl1pPr>
          </a:lstStyle>
          <a:p>
            <a:pPr marL="0" indent="0" algn="l">
              <a:lnSpc>
                <a:spcPct val="110000"/>
              </a:lnSpc>
              <a:buNone/>
            </a:pPr>
            <a:endParaRPr lang="en-US" sz="3600" dirty="0"/>
          </a:p>
        </p:txBody>
      </p:sp>
      <p:sp>
        <p:nvSpPr>
          <p:cNvPr id="3" name="Text Placeholder 2"/>
          <p:cNvSpPr>
            <a:spLocks noGrp="1"/>
          </p:cNvSpPr>
          <p:nvPr>
            <p:ph type="body" idx="101"/>
          </p:nvPr>
        </p:nvSpPr>
        <p:spPr>
          <a:xfrm>
            <a:off x="812800" y="2369145"/>
            <a:ext cx="10566400" cy="3676055"/>
          </a:xfrm>
          <a:prstGeom prst="rect">
            <a:avLst/>
          </a:prstGeom>
          <a:noFill/>
          <a:ln/>
        </p:spPr>
        <p:txBody>
          <a:bodyPr wrap="square" lIns="0" tIns="0" rIns="0" bIns="0" rtlCol="0" anchor="t"/>
          <a:lstStyle>
            <a:lvl1pPr marL="0" indent="0" algn="l">
              <a:lnSpc>
                <a:spcPct val="140000"/>
              </a:lnSpc>
              <a:buNone/>
              <a:defRPr lang="en-US" sz="1600" dirty="0">
                <a:solidFill>
                  <a:srgbClr val="14191F"/>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hyperlink" Target="https://github.com/ryanjmichie-git/cursor-agent-swarm" TargetMode="External"/><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name="Slide 3">
    <p:bg>
      <p:bgPr>
        <a:solidFill>
          <a:srgbClr val="F5F2EB"/>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4C3A644-7984-E2C0-E600-1C6B49D1FEA3}"/>
              </a:ext>
            </a:extLst>
          </p:cNvPr>
          <p:cNvPicPr>
            <a:picLocks noChangeAspect="1"/>
          </p:cNvPicPr>
          <p:nvPr/>
        </p:nvPicPr>
        <p:blipFill>
          <a:blip r:embed="rId3"/>
          <a:stretch>
            <a:fillRect/>
          </a:stretch>
        </p:blipFill>
        <p:spPr>
          <a:xfrm>
            <a:off x="782700" y="4067270"/>
            <a:ext cx="6697386" cy="2241616"/>
          </a:xfrm>
          <a:prstGeom prst="rect">
            <a:avLst/>
          </a:prstGeom>
        </p:spPr>
      </p:pic>
      <p:sp>
        <p:nvSpPr>
          <p:cNvPr id="2" name="Text 0"/>
          <p:cNvSpPr/>
          <p:nvPr/>
        </p:nvSpPr>
        <p:spPr>
          <a:xfrm>
            <a:off x="812800" y="781321"/>
            <a:ext cx="5755640" cy="276973"/>
          </a:xfrm>
          <a:prstGeom prst="rect">
            <a:avLst/>
          </a:prstGeom>
          <a:noFill/>
          <a:ln/>
        </p:spPr>
        <p:txBody>
          <a:bodyPr wrap="square" lIns="0" tIns="0" rIns="0" bIns="0" rtlCol="0" anchor="t">
            <a:normAutofit/>
          </a:bodyPr>
          <a:lstStyle/>
          <a:p>
            <a:pPr marL="0" indent="0" algn="l">
              <a:lnSpc>
                <a:spcPts val="1680"/>
              </a:lnSpc>
              <a:buNone/>
            </a:pPr>
            <a:r>
              <a:rPr lang="en-US" sz="2400" b="1" kern="0" spc="100" dirty="0">
                <a:solidFill>
                  <a:srgbClr val="B8430F"/>
                </a:solidFill>
                <a:latin typeface="JetBrains Mono" pitchFamily="49" charset="0"/>
                <a:ea typeface="JetBrains Mono" pitchFamily="49" charset="-122"/>
                <a:cs typeface="JetBrains Mono" pitchFamily="49" charset="-120"/>
              </a:rPr>
              <a:t>“AGENT SWARM” STATION</a:t>
            </a:r>
            <a:endParaRPr lang="en-US" sz="2400" dirty="0"/>
          </a:p>
        </p:txBody>
      </p:sp>
      <p:sp>
        <p:nvSpPr>
          <p:cNvPr id="3" name="Text 1"/>
          <p:cNvSpPr>
            <a:spLocks noGrp="1"/>
          </p:cNvSpPr>
          <p:nvPr>
            <p:ph type="title"/>
          </p:nvPr>
        </p:nvSpPr>
        <p:spPr>
          <a:xfrm>
            <a:off x="812800" y="1102320"/>
            <a:ext cx="5755640" cy="1012825"/>
          </a:xfrm>
          <a:prstGeom prst="rect">
            <a:avLst/>
          </a:prstGeom>
          <a:noFill/>
          <a:ln/>
        </p:spPr>
        <p:txBody>
          <a:bodyPr wrap="square" lIns="0" tIns="0" rIns="0" bIns="0" rtlCol="0" anchor="t">
            <a:normAutofit/>
          </a:bodyPr>
          <a:lstStyle/>
          <a:p>
            <a:pPr marL="0" indent="0" algn="l">
              <a:lnSpc>
                <a:spcPts val="3888"/>
              </a:lnSpc>
              <a:buNone/>
            </a:pPr>
            <a:r>
              <a:rPr lang="en-US" sz="3600" b="1" i="0" kern="0" spc="-50" dirty="0">
                <a:solidFill>
                  <a:srgbClr val="14191F"/>
                </a:solidFill>
                <a:latin typeface="Space Grotesk" pitchFamily="34" charset="0"/>
                <a:ea typeface="Space Grotesk" pitchFamily="34" charset="-122"/>
                <a:cs typeface="Space Grotesk" pitchFamily="34" charset="-120"/>
              </a:rPr>
              <a:t>Walk out with your own agent swarm tonight.</a:t>
            </a:r>
            <a:endParaRPr lang="en-US" sz="3600" dirty="0"/>
          </a:p>
        </p:txBody>
      </p:sp>
      <p:sp>
        <p:nvSpPr>
          <p:cNvPr id="4" name="Text 2"/>
          <p:cNvSpPr/>
          <p:nvPr/>
        </p:nvSpPr>
        <p:spPr>
          <a:xfrm>
            <a:off x="812800" y="2267544"/>
            <a:ext cx="5755640" cy="2304456"/>
          </a:xfrm>
          <a:prstGeom prst="rect">
            <a:avLst/>
          </a:prstGeom>
          <a:noFill/>
          <a:ln/>
        </p:spPr>
        <p:txBody>
          <a:bodyPr wrap="square" lIns="0" tIns="0" rIns="0" bIns="0" rtlCol="0" anchor="t">
            <a:normAutofit/>
          </a:bodyPr>
          <a:lstStyle/>
          <a:p>
            <a:pPr marL="0" indent="0" algn="l">
              <a:lnSpc>
                <a:spcPts val="2240"/>
              </a:lnSpc>
              <a:buNone/>
            </a:pPr>
            <a:r>
              <a:rPr lang="en-US" sz="1600" dirty="0">
                <a:latin typeface="Space Grotesk" pitchFamily="34" charset="0"/>
                <a:ea typeface="Space Grotesk" pitchFamily="34" charset="-122"/>
                <a:cs typeface="Space Grotesk" pitchFamily="34" charset="-120"/>
              </a:rPr>
              <a:t>Watch a swarm of agents build a website in 5 minutes. </a:t>
            </a:r>
          </a:p>
          <a:p>
            <a:pPr marL="0" indent="0" algn="l">
              <a:lnSpc>
                <a:spcPts val="2240"/>
              </a:lnSpc>
              <a:buNone/>
            </a:pPr>
            <a:endParaRPr lang="en-US" sz="1600" dirty="0">
              <a:latin typeface="Space Grotesk" pitchFamily="34" charset="0"/>
              <a:ea typeface="Space Grotesk" pitchFamily="34" charset="-122"/>
              <a:cs typeface="Space Grotesk" pitchFamily="34" charset="-120"/>
            </a:endParaRPr>
          </a:p>
          <a:p>
            <a:pPr marL="0" indent="0" algn="l">
              <a:lnSpc>
                <a:spcPts val="2240"/>
              </a:lnSpc>
              <a:buNone/>
            </a:pPr>
            <a:r>
              <a:rPr lang="en-US" sz="1600" dirty="0">
                <a:latin typeface="Space Grotesk" pitchFamily="34" charset="0"/>
                <a:ea typeface="Space Grotesk" pitchFamily="34" charset="-122"/>
                <a:cs typeface="Space Grotesk" pitchFamily="34" charset="-120"/>
              </a:rPr>
              <a:t>Ask questions.</a:t>
            </a:r>
          </a:p>
          <a:p>
            <a:pPr marL="0" indent="0" algn="l">
              <a:lnSpc>
                <a:spcPts val="2240"/>
              </a:lnSpc>
              <a:buNone/>
            </a:pPr>
            <a:endParaRPr lang="en-US" sz="1600" dirty="0">
              <a:latin typeface="Space Grotesk" pitchFamily="34" charset="0"/>
              <a:ea typeface="Space Grotesk" pitchFamily="34" charset="-122"/>
              <a:cs typeface="Space Grotesk" pitchFamily="34" charset="-120"/>
            </a:endParaRPr>
          </a:p>
          <a:p>
            <a:pPr marL="0" indent="0" algn="l">
              <a:lnSpc>
                <a:spcPts val="2240"/>
              </a:lnSpc>
              <a:buNone/>
            </a:pPr>
            <a:r>
              <a:rPr lang="en-US" sz="1600" dirty="0">
                <a:latin typeface="Space Grotesk" pitchFamily="34" charset="0"/>
                <a:ea typeface="Space Grotesk" pitchFamily="34" charset="-122"/>
                <a:cs typeface="Space Grotesk" pitchFamily="34" charset="-120"/>
              </a:rPr>
              <a:t>Get your own team of pre-built AI agents. Designed from principles by: Andrej Karpathy, Lauren Tan, Lee Robinson</a:t>
            </a:r>
            <a:endParaRPr lang="en-US" sz="1600" dirty="0"/>
          </a:p>
        </p:txBody>
      </p:sp>
      <p:sp>
        <p:nvSpPr>
          <p:cNvPr id="6" name="Text 4"/>
          <p:cNvSpPr/>
          <p:nvPr/>
        </p:nvSpPr>
        <p:spPr>
          <a:xfrm>
            <a:off x="2917167" y="4489153"/>
            <a:ext cx="236208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91F"/>
                </a:solidFill>
                <a:latin typeface="Space Grotesk" pitchFamily="34" charset="0"/>
                <a:ea typeface="Space Grotesk" pitchFamily="34" charset="-122"/>
                <a:cs typeface="Space Grotesk" pitchFamily="34" charset="-120"/>
              </a:rPr>
              <a:t>Scan → clone → run</a:t>
            </a:r>
            <a:endParaRPr lang="en-US" sz="1600" dirty="0"/>
          </a:p>
        </p:txBody>
      </p:sp>
      <p:sp>
        <p:nvSpPr>
          <p:cNvPr id="7" name="Text 5"/>
          <p:cNvSpPr/>
          <p:nvPr/>
        </p:nvSpPr>
        <p:spPr>
          <a:xfrm>
            <a:off x="2917167" y="4887065"/>
            <a:ext cx="3178834" cy="309860"/>
          </a:xfrm>
          <a:prstGeom prst="rect">
            <a:avLst/>
          </a:prstGeom>
          <a:noFill/>
          <a:ln/>
        </p:spPr>
        <p:txBody>
          <a:bodyPr wrap="square" lIns="0" tIns="0" rIns="0" bIns="0" rtlCol="0" anchor="t">
            <a:normAutofit/>
          </a:bodyPr>
          <a:lstStyle/>
          <a:p>
            <a:pPr>
              <a:lnSpc>
                <a:spcPts val="1680"/>
              </a:lnSpc>
            </a:pPr>
            <a:r>
              <a:rPr lang="en-US" sz="1200" dirty="0" err="1">
                <a:hlinkClick r:id="rId4"/>
              </a:rPr>
              <a:t>ryanjmichie</a:t>
            </a:r>
            <a:r>
              <a:rPr lang="en-US" sz="1200" dirty="0">
                <a:hlinkClick r:id="rId4"/>
              </a:rPr>
              <a:t>-git/cursor-agent-swarm</a:t>
            </a:r>
            <a:endParaRPr lang="en-US" sz="1200" dirty="0"/>
          </a:p>
        </p:txBody>
      </p:sp>
      <p:sp>
        <p:nvSpPr>
          <p:cNvPr id="8" name="Shape 6"/>
          <p:cNvSpPr/>
          <p:nvPr/>
        </p:nvSpPr>
        <p:spPr>
          <a:xfrm>
            <a:off x="6807200" y="711200"/>
            <a:ext cx="4572000" cy="5130800"/>
          </a:xfrm>
          <a:prstGeom prst="roundRect">
            <a:avLst>
              <a:gd name="adj" fmla="val 3333"/>
            </a:avLst>
          </a:prstGeom>
          <a:solidFill>
            <a:srgbClr val="0F1419"/>
          </a:solidFill>
          <a:ln/>
        </p:spPr>
        <p:txBody>
          <a:bodyPr/>
          <a:lstStyle/>
          <a:p>
            <a:endParaRPr lang="en-US"/>
          </a:p>
        </p:txBody>
      </p:sp>
      <p:sp>
        <p:nvSpPr>
          <p:cNvPr id="9" name="Text 7"/>
          <p:cNvSpPr/>
          <p:nvPr/>
        </p:nvSpPr>
        <p:spPr>
          <a:xfrm>
            <a:off x="7112000" y="1016000"/>
            <a:ext cx="4081272" cy="238720"/>
          </a:xfrm>
          <a:prstGeom prst="rect">
            <a:avLst/>
          </a:prstGeom>
          <a:noFill/>
          <a:ln/>
        </p:spPr>
        <p:txBody>
          <a:bodyPr wrap="square" lIns="0" tIns="0" rIns="0" bIns="0" rtlCol="0" anchor="t">
            <a:normAutofit/>
          </a:bodyPr>
          <a:lstStyle/>
          <a:p>
            <a:pPr marL="0" indent="0" algn="l">
              <a:lnSpc>
                <a:spcPts val="1680"/>
              </a:lnSpc>
              <a:buNone/>
            </a:pPr>
            <a:r>
              <a:rPr lang="en-US" sz="1600" b="1" kern="0" spc="100" dirty="0">
                <a:solidFill>
                  <a:srgbClr val="A9B4BF"/>
                </a:solidFill>
                <a:latin typeface="JetBrains Mono" pitchFamily="49" charset="0"/>
                <a:ea typeface="JetBrains Mono" pitchFamily="49" charset="-122"/>
                <a:cs typeface="JetBrains Mono" pitchFamily="49" charset="-120"/>
              </a:rPr>
              <a:t>WHAT’S READY FOR YOU</a:t>
            </a:r>
            <a:endParaRPr lang="en-US" sz="1600" dirty="0"/>
          </a:p>
        </p:txBody>
      </p:sp>
      <p:sp>
        <p:nvSpPr>
          <p:cNvPr id="10" name="Shape 8"/>
          <p:cNvSpPr/>
          <p:nvPr/>
        </p:nvSpPr>
        <p:spPr>
          <a:xfrm>
            <a:off x="7112000" y="1384895"/>
            <a:ext cx="3962400" cy="0"/>
          </a:xfrm>
          <a:prstGeom prst="line">
            <a:avLst/>
          </a:prstGeom>
          <a:noFill/>
          <a:ln w="6350">
            <a:solidFill>
              <a:srgbClr val="2C3540"/>
            </a:solidFill>
            <a:prstDash val="solid"/>
          </a:ln>
        </p:spPr>
        <p:txBody>
          <a:bodyPr/>
          <a:lstStyle/>
          <a:p>
            <a:endParaRPr lang="en-US" sz="2400"/>
          </a:p>
        </p:txBody>
      </p:sp>
      <p:sp>
        <p:nvSpPr>
          <p:cNvPr id="11" name="Text 9"/>
          <p:cNvSpPr/>
          <p:nvPr/>
        </p:nvSpPr>
        <p:spPr>
          <a:xfrm>
            <a:off x="7112000" y="1540470"/>
            <a:ext cx="4081272"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FF7A3D"/>
                </a:solidFill>
                <a:latin typeface="Space Grotesk" pitchFamily="34" charset="0"/>
                <a:ea typeface="Space Grotesk" pitchFamily="34" charset="-122"/>
                <a:cs typeface="Space Grotesk" pitchFamily="34" charset="-120"/>
              </a:rPr>
              <a:t>Agent definitions</a:t>
            </a:r>
            <a:endParaRPr lang="en-US" sz="2000" dirty="0"/>
          </a:p>
        </p:txBody>
      </p:sp>
      <p:sp>
        <p:nvSpPr>
          <p:cNvPr id="12" name="Text 10"/>
          <p:cNvSpPr/>
          <p:nvPr/>
        </p:nvSpPr>
        <p:spPr>
          <a:xfrm>
            <a:off x="7112000" y="1835051"/>
            <a:ext cx="4081272" cy="238720"/>
          </a:xfrm>
          <a:prstGeom prst="rect">
            <a:avLst/>
          </a:prstGeom>
          <a:noFill/>
          <a:ln/>
        </p:spPr>
        <p:txBody>
          <a:bodyPr wrap="square" lIns="0" tIns="0" rIns="0" bIns="0" rtlCol="0" anchor="t">
            <a:noAutofit/>
          </a:bodyPr>
          <a:lstStyle/>
          <a:p>
            <a:pPr marL="0" indent="0" algn="l">
              <a:lnSpc>
                <a:spcPts val="1680"/>
              </a:lnSpc>
              <a:buNone/>
            </a:pPr>
            <a:r>
              <a:rPr lang="en-US" sz="1600" dirty="0">
                <a:solidFill>
                  <a:srgbClr val="EDEAE3"/>
                </a:solidFill>
                <a:latin typeface="Space Grotesk" pitchFamily="34" charset="0"/>
                <a:ea typeface="Space Grotesk" pitchFamily="34" charset="-122"/>
                <a:cs typeface="Space Grotesk" pitchFamily="34" charset="-120"/>
              </a:rPr>
              <a:t>Frontend, tester and reviewer roles</a:t>
            </a:r>
            <a:endParaRPr lang="en-US" sz="1600" dirty="0"/>
          </a:p>
        </p:txBody>
      </p:sp>
      <p:sp>
        <p:nvSpPr>
          <p:cNvPr id="13" name="Shape 11"/>
          <p:cNvSpPr/>
          <p:nvPr/>
        </p:nvSpPr>
        <p:spPr>
          <a:xfrm>
            <a:off x="7112000" y="2203946"/>
            <a:ext cx="3962400" cy="0"/>
          </a:xfrm>
          <a:prstGeom prst="line">
            <a:avLst/>
          </a:prstGeom>
          <a:noFill/>
          <a:ln w="6350">
            <a:solidFill>
              <a:srgbClr val="2C3540"/>
            </a:solidFill>
            <a:prstDash val="solid"/>
          </a:ln>
        </p:spPr>
        <p:txBody>
          <a:bodyPr/>
          <a:lstStyle/>
          <a:p>
            <a:endParaRPr lang="en-US" sz="2400"/>
          </a:p>
        </p:txBody>
      </p:sp>
      <p:sp>
        <p:nvSpPr>
          <p:cNvPr id="14" name="Text 12"/>
          <p:cNvSpPr/>
          <p:nvPr/>
        </p:nvSpPr>
        <p:spPr>
          <a:xfrm>
            <a:off x="7112000" y="2359521"/>
            <a:ext cx="4081272"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FF7A3D"/>
                </a:solidFill>
                <a:latin typeface="JetBrains Mono" pitchFamily="49" charset="0"/>
                <a:ea typeface="JetBrains Mono" pitchFamily="49" charset="-122"/>
                <a:cs typeface="JetBrains Mono" pitchFamily="49" charset="-120"/>
              </a:rPr>
              <a:t>AGENTS.md</a:t>
            </a:r>
            <a:endParaRPr lang="en-US" sz="2000" dirty="0"/>
          </a:p>
        </p:txBody>
      </p:sp>
      <p:sp>
        <p:nvSpPr>
          <p:cNvPr id="15" name="Text 13"/>
          <p:cNvSpPr/>
          <p:nvPr/>
        </p:nvSpPr>
        <p:spPr>
          <a:xfrm>
            <a:off x="7112000" y="2654102"/>
            <a:ext cx="4081272" cy="23872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EDEAE3"/>
                </a:solidFill>
                <a:latin typeface="Space Grotesk" pitchFamily="34" charset="0"/>
                <a:ea typeface="Space Grotesk" pitchFamily="34" charset="-122"/>
                <a:cs typeface="Space Grotesk" pitchFamily="34" charset="-120"/>
              </a:rPr>
              <a:t>The shared rules every agent follows</a:t>
            </a:r>
            <a:endParaRPr lang="en-US" sz="1600" dirty="0"/>
          </a:p>
        </p:txBody>
      </p:sp>
      <p:sp>
        <p:nvSpPr>
          <p:cNvPr id="16" name="Shape 14"/>
          <p:cNvSpPr/>
          <p:nvPr/>
        </p:nvSpPr>
        <p:spPr>
          <a:xfrm>
            <a:off x="7112000" y="3022997"/>
            <a:ext cx="3962400" cy="0"/>
          </a:xfrm>
          <a:prstGeom prst="line">
            <a:avLst/>
          </a:prstGeom>
          <a:noFill/>
          <a:ln w="6350">
            <a:solidFill>
              <a:srgbClr val="2C3540"/>
            </a:solidFill>
            <a:prstDash val="solid"/>
          </a:ln>
        </p:spPr>
        <p:txBody>
          <a:bodyPr/>
          <a:lstStyle/>
          <a:p>
            <a:endParaRPr lang="en-US" sz="2400"/>
          </a:p>
        </p:txBody>
      </p:sp>
      <p:sp>
        <p:nvSpPr>
          <p:cNvPr id="17" name="Text 15"/>
          <p:cNvSpPr/>
          <p:nvPr/>
        </p:nvSpPr>
        <p:spPr>
          <a:xfrm>
            <a:off x="7112000" y="3178572"/>
            <a:ext cx="4081272"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FF7A3D"/>
                </a:solidFill>
                <a:latin typeface="Space Grotesk" pitchFamily="34" charset="0"/>
                <a:ea typeface="Space Grotesk" pitchFamily="34" charset="-122"/>
                <a:cs typeface="Space Grotesk" pitchFamily="34" charset="-120"/>
              </a:rPr>
              <a:t>Hooks</a:t>
            </a:r>
            <a:endParaRPr lang="en-US" sz="2000" dirty="0"/>
          </a:p>
        </p:txBody>
      </p:sp>
      <p:sp>
        <p:nvSpPr>
          <p:cNvPr id="18" name="Text 16"/>
          <p:cNvSpPr/>
          <p:nvPr/>
        </p:nvSpPr>
        <p:spPr>
          <a:xfrm>
            <a:off x="7112000" y="3473152"/>
            <a:ext cx="4081272" cy="452041"/>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EDEAE3"/>
                </a:solidFill>
                <a:latin typeface="Space Grotesk" pitchFamily="34" charset="0"/>
                <a:ea typeface="Space Grotesk" pitchFamily="34" charset="-122"/>
                <a:cs typeface="Space Grotesk" pitchFamily="34" charset="-120"/>
              </a:rPr>
              <a:t>Blocks “done” until your tests pass</a:t>
            </a:r>
            <a:endParaRPr lang="en-US" sz="1600" dirty="0"/>
          </a:p>
        </p:txBody>
      </p:sp>
      <p:sp>
        <p:nvSpPr>
          <p:cNvPr id="19" name="Shape 17"/>
          <p:cNvSpPr/>
          <p:nvPr/>
        </p:nvSpPr>
        <p:spPr>
          <a:xfrm>
            <a:off x="7112000" y="3925193"/>
            <a:ext cx="3962400" cy="0"/>
          </a:xfrm>
          <a:prstGeom prst="line">
            <a:avLst/>
          </a:prstGeom>
          <a:noFill/>
          <a:ln w="6350">
            <a:solidFill>
              <a:srgbClr val="2C3540"/>
            </a:solidFill>
            <a:prstDash val="solid"/>
          </a:ln>
        </p:spPr>
        <p:txBody>
          <a:bodyPr/>
          <a:lstStyle/>
          <a:p>
            <a:endParaRPr lang="en-US" sz="2400"/>
          </a:p>
        </p:txBody>
      </p:sp>
      <p:sp>
        <p:nvSpPr>
          <p:cNvPr id="20" name="Text 18"/>
          <p:cNvSpPr/>
          <p:nvPr/>
        </p:nvSpPr>
        <p:spPr>
          <a:xfrm>
            <a:off x="7112000" y="4056671"/>
            <a:ext cx="4081272"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FF7A3D"/>
                </a:solidFill>
                <a:latin typeface="Space Grotesk" pitchFamily="34" charset="0"/>
                <a:ea typeface="Space Grotesk" pitchFamily="34" charset="-122"/>
                <a:cs typeface="Space Grotesk" pitchFamily="34" charset="-120"/>
              </a:rPr>
              <a:t>Skills</a:t>
            </a:r>
            <a:endParaRPr lang="en-US" sz="2000" dirty="0"/>
          </a:p>
        </p:txBody>
      </p:sp>
      <p:sp>
        <p:nvSpPr>
          <p:cNvPr id="21" name="Text 19"/>
          <p:cNvSpPr/>
          <p:nvPr/>
        </p:nvSpPr>
        <p:spPr>
          <a:xfrm>
            <a:off x="7112000" y="4351251"/>
            <a:ext cx="4267200" cy="53507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EDEAE3"/>
                </a:solidFill>
                <a:latin typeface="Space Grotesk" pitchFamily="34" charset="0"/>
                <a:ea typeface="Space Grotesk" pitchFamily="34" charset="-122"/>
                <a:cs typeface="Space Grotesk" pitchFamily="34" charset="-120"/>
              </a:rPr>
              <a:t>The exact skills the swarm used in the demo, and a Self-Improvement Loop bonus</a:t>
            </a:r>
            <a:endParaRPr lang="en-US" sz="1600" dirty="0"/>
          </a:p>
        </p:txBody>
      </p:sp>
      <p:sp>
        <p:nvSpPr>
          <p:cNvPr id="22" name="Text 20"/>
          <p:cNvSpPr/>
          <p:nvPr/>
        </p:nvSpPr>
        <p:spPr>
          <a:xfrm>
            <a:off x="10225657" y="6165995"/>
            <a:ext cx="1438694" cy="23872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4A5361"/>
                </a:solidFill>
                <a:latin typeface="Space Grotesk" pitchFamily="34" charset="0"/>
                <a:ea typeface="Space Grotesk" pitchFamily="34" charset="-122"/>
                <a:cs typeface="Space Grotesk" pitchFamily="34" charset="-120"/>
              </a:rPr>
              <a:t>Ryan Michie</a:t>
            </a:r>
            <a:endParaRPr lang="en-US" sz="1600" dirty="0"/>
          </a:p>
        </p:txBody>
      </p:sp>
      <p:pic>
        <p:nvPicPr>
          <p:cNvPr id="30" name="Picture 29" descr="File:Cursor logo.svg - Wikimedia Commons">
            <a:extLst>
              <a:ext uri="{FF2B5EF4-FFF2-40B4-BE49-F238E27FC236}">
                <a16:creationId xmlns:a16="http://schemas.microsoft.com/office/drawing/2014/main" id="{ADEFE8EE-565E-4AAE-7FD5-7AD6006685D9}"/>
              </a:ext>
            </a:extLst>
          </p:cNvPr>
          <p:cNvPicPr>
            <a:picLocks noChangeAspect="1"/>
          </p:cNvPicPr>
          <p:nvPr/>
        </p:nvPicPr>
        <p:blipFill>
          <a:blip r:embed="rId5"/>
          <a:stretch>
            <a:fillRect/>
          </a:stretch>
        </p:blipFill>
        <p:spPr>
          <a:xfrm>
            <a:off x="782701" y="6032363"/>
            <a:ext cx="1516990" cy="372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We built a starter kit, then tested it</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WHAT WE DID</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Sources: cursor-agent-swarm repo, HANDOFF.md (dry run, Oct 27, 2026); grok-bakeoff harness, HANDOFF.md (pilot and sweep, Oct 27, 2026).</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sp>
        <p:nvSpPr>
          <p:cNvPr id="6" name="Card 1"/>
          <p:cNvSpPr/>
          <p:nvPr/>
        </p:nvSpPr>
        <p:spPr>
          <a:xfrm>
            <a:off x="813816" y="1783080"/>
            <a:ext cx="2468880" cy="3794760"/>
          </a:xfrm>
          <a:prstGeom prst="roundRect">
            <a:avLst>
              <a:gd name="adj" fmla="val 6666"/>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075688"/>
            <a:ext cx="1956816" cy="274320"/>
          </a:xfrm>
          <a:prstGeom prst="rect">
            <a:avLst/>
          </a:prstGeom>
          <a:noFill/>
        </p:spPr>
        <p:txBody>
          <a:bodyPr wrap="square" lIns="0" rIns="0" tIns="0" bIns="0" anchor="t">
            <a:noAutofit/>
          </a:bodyPr>
          <a:lstStyle/>
          <a:p>
            <a:pPr algn="l"/>
            <a:r>
              <a:rPr sz="1400" b="1" i="0">
                <a:solidFill>
                  <a:srgbClr val="A9B4BF"/>
                </a:solidFill>
                <a:latin typeface="JetBrains Mono"/>
              </a:rPr>
              <a:t>01 / BUILD</a:t>
            </a:r>
          </a:p>
        </p:txBody>
      </p:sp>
      <p:sp>
        <p:nvSpPr>
          <p:cNvPr id="8" name="TextBox 7"/>
          <p:cNvSpPr txBox="1"/>
          <p:nvPr/>
        </p:nvSpPr>
        <p:spPr>
          <a:xfrm>
            <a:off x="1069848" y="2459736"/>
            <a:ext cx="1956816" cy="411480"/>
          </a:xfrm>
          <a:prstGeom prst="rect">
            <a:avLst/>
          </a:prstGeom>
          <a:noFill/>
        </p:spPr>
        <p:txBody>
          <a:bodyPr wrap="square" lIns="0" rIns="0" tIns="0" bIns="0" anchor="t">
            <a:noAutofit/>
          </a:bodyPr>
          <a:lstStyle/>
          <a:p>
            <a:pPr algn="l"/>
            <a:r>
              <a:rPr sz="2000" b="1" i="0">
                <a:solidFill>
                  <a:srgbClr val="FF7A3D"/>
                </a:solidFill>
                <a:latin typeface="Space Grotesk"/>
              </a:rPr>
              <a:t>Starter kit</a:t>
            </a:r>
          </a:p>
        </p:txBody>
      </p:sp>
      <p:cxnSp>
        <p:nvCxnSpPr>
          <p:cNvPr id="9" name="Connector 8"/>
          <p:cNvCxnSpPr/>
          <p:nvPr/>
        </p:nvCxnSpPr>
        <p:spPr>
          <a:xfrm>
            <a:off x="1069848" y="2971800"/>
            <a:ext cx="1956816"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9848" y="3154680"/>
            <a:ext cx="1956816" cy="2194560"/>
          </a:xfrm>
          <a:prstGeom prst="rect">
            <a:avLst/>
          </a:prstGeom>
          <a:noFill/>
        </p:spPr>
        <p:txBody>
          <a:bodyPr wrap="square" lIns="0" rIns="0" tIns="0" bIns="0" anchor="t">
            <a:noAutofit/>
          </a:bodyPr>
          <a:lstStyle/>
          <a:p>
            <a:pPr algn="l">
              <a:spcAft>
                <a:spcPts val="800"/>
              </a:spcAft>
            </a:pPr>
            <a:r>
              <a:rPr sz="1500" b="0" i="0">
                <a:solidFill>
                  <a:srgbClr val="EDEAE3"/>
                </a:solidFill>
                <a:latin typeface="Space Grotesk"/>
              </a:rPr>
              <a:t>We built a small website repo for a swarm of AI agents.</a:t>
            </a:r>
          </a:p>
          <a:p>
            <a:pPr algn="l">
              <a:spcAft>
                <a:spcPts val="800"/>
              </a:spcAft>
            </a:pPr>
            <a:r>
              <a:rPr sz="1500" b="0" i="0">
                <a:solidFill>
                  <a:srgbClr val="EDEAE3"/>
                </a:solidFill>
                <a:latin typeface="Space Grotesk"/>
              </a:rPr>
              <a:t>It holds agent roles, shared rules, a quality gate and saved procedures (skills).</a:t>
            </a:r>
          </a:p>
        </p:txBody>
      </p:sp>
      <p:sp>
        <p:nvSpPr>
          <p:cNvPr id="11" name="Card 2"/>
          <p:cNvSpPr/>
          <p:nvPr/>
        </p:nvSpPr>
        <p:spPr>
          <a:xfrm>
            <a:off x="3511296" y="1783080"/>
            <a:ext cx="2468880" cy="3794760"/>
          </a:xfrm>
          <a:prstGeom prst="roundRect">
            <a:avLst>
              <a:gd name="adj" fmla="val 6666"/>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2075688"/>
            <a:ext cx="1956816" cy="274320"/>
          </a:xfrm>
          <a:prstGeom prst="rect">
            <a:avLst/>
          </a:prstGeom>
          <a:noFill/>
        </p:spPr>
        <p:txBody>
          <a:bodyPr wrap="square" lIns="0" rIns="0" tIns="0" bIns="0" anchor="t">
            <a:noAutofit/>
          </a:bodyPr>
          <a:lstStyle/>
          <a:p>
            <a:pPr algn="l"/>
            <a:r>
              <a:rPr sz="1400" b="1" i="0">
                <a:solidFill>
                  <a:srgbClr val="A9B4BF"/>
                </a:solidFill>
                <a:latin typeface="JetBrains Mono"/>
              </a:rPr>
              <a:t>02 / REHEARSE</a:t>
            </a:r>
          </a:p>
        </p:txBody>
      </p:sp>
      <p:sp>
        <p:nvSpPr>
          <p:cNvPr id="13" name="TextBox 12"/>
          <p:cNvSpPr txBox="1"/>
          <p:nvPr/>
        </p:nvSpPr>
        <p:spPr>
          <a:xfrm>
            <a:off x="3767328" y="2459736"/>
            <a:ext cx="1956816" cy="411480"/>
          </a:xfrm>
          <a:prstGeom prst="rect">
            <a:avLst/>
          </a:prstGeom>
          <a:noFill/>
        </p:spPr>
        <p:txBody>
          <a:bodyPr wrap="square" lIns="0" rIns="0" tIns="0" bIns="0" anchor="t">
            <a:noAutofit/>
          </a:bodyPr>
          <a:lstStyle/>
          <a:p>
            <a:pPr algn="l"/>
            <a:r>
              <a:rPr sz="2000" b="1" i="0">
                <a:solidFill>
                  <a:srgbClr val="FF7A3D"/>
                </a:solidFill>
                <a:latin typeface="Space Grotesk"/>
              </a:rPr>
              <a:t>Live demo</a:t>
            </a:r>
          </a:p>
        </p:txBody>
      </p:sp>
      <p:cxnSp>
        <p:nvCxnSpPr>
          <p:cNvPr id="14" name="Connector 13"/>
          <p:cNvCxnSpPr/>
          <p:nvPr/>
        </p:nvCxnSpPr>
        <p:spPr>
          <a:xfrm>
            <a:off x="3767328" y="2971800"/>
            <a:ext cx="1956816"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67328" y="3154680"/>
            <a:ext cx="1956816" cy="2194560"/>
          </a:xfrm>
          <a:prstGeom prst="rect">
            <a:avLst/>
          </a:prstGeom>
          <a:noFill/>
        </p:spPr>
        <p:txBody>
          <a:bodyPr wrap="square" lIns="0" rIns="0" tIns="0" bIns="0" anchor="t">
            <a:noAutofit/>
          </a:bodyPr>
          <a:lstStyle/>
          <a:p>
            <a:pPr algn="l">
              <a:spcAft>
                <a:spcPts val="800"/>
              </a:spcAft>
            </a:pPr>
            <a:r>
              <a:rPr sz="1500" b="0" i="0">
                <a:solidFill>
                  <a:srgbClr val="EDEAE3"/>
                </a:solidFill>
                <a:latin typeface="Space Grotesk"/>
              </a:rPr>
              <a:t>Three agents built three page sections at the same time.</a:t>
            </a:r>
          </a:p>
          <a:p>
            <a:pPr algn="l">
              <a:spcAft>
                <a:spcPts val="800"/>
              </a:spcAft>
            </a:pPr>
            <a:r>
              <a:rPr sz="1500" b="0" i="0">
                <a:solidFill>
                  <a:srgbClr val="EDEAE3"/>
                </a:solidFill>
                <a:latin typeface="Space Grotesk"/>
              </a:rPr>
              <a:t>We planted a coding error. The gate caught it, and the agent fixed it in about a minute.</a:t>
            </a:r>
          </a:p>
        </p:txBody>
      </p:sp>
      <p:sp>
        <p:nvSpPr>
          <p:cNvPr id="16" name="Card 3"/>
          <p:cNvSpPr/>
          <p:nvPr/>
        </p:nvSpPr>
        <p:spPr>
          <a:xfrm>
            <a:off x="6208776" y="1783080"/>
            <a:ext cx="2468880" cy="3794760"/>
          </a:xfrm>
          <a:prstGeom prst="roundRect">
            <a:avLst>
              <a:gd name="adj" fmla="val 6666"/>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2075688"/>
            <a:ext cx="1956816" cy="274320"/>
          </a:xfrm>
          <a:prstGeom prst="rect">
            <a:avLst/>
          </a:prstGeom>
          <a:noFill/>
        </p:spPr>
        <p:txBody>
          <a:bodyPr wrap="square" lIns="0" rIns="0" tIns="0" bIns="0" anchor="t">
            <a:noAutofit/>
          </a:bodyPr>
          <a:lstStyle/>
          <a:p>
            <a:pPr algn="l"/>
            <a:r>
              <a:rPr sz="1400" b="1" i="0">
                <a:solidFill>
                  <a:srgbClr val="A9B4BF"/>
                </a:solidFill>
                <a:latin typeface="JetBrains Mono"/>
              </a:rPr>
              <a:t>03 / COMPARE</a:t>
            </a:r>
          </a:p>
        </p:txBody>
      </p:sp>
      <p:sp>
        <p:nvSpPr>
          <p:cNvPr id="18" name="TextBox 17"/>
          <p:cNvSpPr txBox="1"/>
          <p:nvPr/>
        </p:nvSpPr>
        <p:spPr>
          <a:xfrm>
            <a:off x="6464808" y="2459736"/>
            <a:ext cx="1956816" cy="411480"/>
          </a:xfrm>
          <a:prstGeom prst="rect">
            <a:avLst/>
          </a:prstGeom>
          <a:noFill/>
        </p:spPr>
        <p:txBody>
          <a:bodyPr wrap="square" lIns="0" rIns="0" tIns="0" bIns="0" anchor="t">
            <a:noAutofit/>
          </a:bodyPr>
          <a:lstStyle/>
          <a:p>
            <a:pPr algn="l"/>
            <a:r>
              <a:rPr sz="2000" b="1" i="0">
                <a:solidFill>
                  <a:srgbClr val="FF7A3D"/>
                </a:solidFill>
                <a:latin typeface="Space Grotesk"/>
              </a:rPr>
              <a:t>Bake-off</a:t>
            </a:r>
          </a:p>
        </p:txBody>
      </p:sp>
      <p:cxnSp>
        <p:nvCxnSpPr>
          <p:cNvPr id="19" name="Connector 18"/>
          <p:cNvCxnSpPr/>
          <p:nvPr/>
        </p:nvCxnSpPr>
        <p:spPr>
          <a:xfrm>
            <a:off x="6464808" y="2971800"/>
            <a:ext cx="1956816"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64808" y="3154680"/>
            <a:ext cx="1956816" cy="2194560"/>
          </a:xfrm>
          <a:prstGeom prst="rect">
            <a:avLst/>
          </a:prstGeom>
          <a:noFill/>
        </p:spPr>
        <p:txBody>
          <a:bodyPr wrap="square" lIns="0" rIns="0" tIns="0" bIns="0" anchor="t">
            <a:noAutofit/>
          </a:bodyPr>
          <a:lstStyle/>
          <a:p>
            <a:pPr algn="l">
              <a:spcAft>
                <a:spcPts val="800"/>
              </a:spcAft>
            </a:pPr>
            <a:r>
              <a:rPr sz="1500" b="0" i="0">
                <a:solidFill>
                  <a:srgbClr val="EDEAE3"/>
                </a:solidFill>
                <a:latin typeface="Space Grotesk"/>
              </a:rPr>
              <a:t>Two tasks, one set of automated scores:</a:t>
            </a:r>
          </a:p>
          <a:p>
            <a:pPr algn="l">
              <a:spcAft>
                <a:spcPts val="800"/>
              </a:spcAft>
            </a:pPr>
            <a:r>
              <a:rPr sz="1500" b="0" i="0">
                <a:solidFill>
                  <a:srgbClr val="EDEAE3"/>
                </a:solidFill>
                <a:latin typeface="Space Grotesk"/>
              </a:rPr>
              <a:t>Build a dashboard (4 setups).</a:t>
            </a:r>
          </a:p>
          <a:p>
            <a:pPr algn="l">
              <a:spcAft>
                <a:spcPts val="800"/>
              </a:spcAft>
            </a:pPr>
            <a:r>
              <a:rPr sz="1500" b="0" i="0">
                <a:solidFill>
                  <a:srgbClr val="EDEAE3"/>
                </a:solidFill>
                <a:latin typeface="Space Grotesk"/>
              </a:rPr>
              <a:t>Fix 16 planted defects in an 8-screen app (3 setups).</a:t>
            </a:r>
          </a:p>
        </p:txBody>
      </p:sp>
      <p:sp>
        <p:nvSpPr>
          <p:cNvPr id="21" name="Card 4"/>
          <p:cNvSpPr/>
          <p:nvPr/>
        </p:nvSpPr>
        <p:spPr>
          <a:xfrm>
            <a:off x="8906256" y="1783080"/>
            <a:ext cx="2468880" cy="3794760"/>
          </a:xfrm>
          <a:prstGeom prst="roundRect">
            <a:avLst>
              <a:gd name="adj" fmla="val 6666"/>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62288" y="2075688"/>
            <a:ext cx="1956816" cy="274320"/>
          </a:xfrm>
          <a:prstGeom prst="rect">
            <a:avLst/>
          </a:prstGeom>
          <a:noFill/>
        </p:spPr>
        <p:txBody>
          <a:bodyPr wrap="square" lIns="0" rIns="0" tIns="0" bIns="0" anchor="t">
            <a:noAutofit/>
          </a:bodyPr>
          <a:lstStyle/>
          <a:p>
            <a:pPr algn="l"/>
            <a:r>
              <a:rPr sz="1400" b="1" i="0">
                <a:solidFill>
                  <a:srgbClr val="A9B4BF"/>
                </a:solidFill>
                <a:latin typeface="JetBrains Mono"/>
              </a:rPr>
              <a:t>04 / LEARN</a:t>
            </a:r>
          </a:p>
        </p:txBody>
      </p:sp>
      <p:sp>
        <p:nvSpPr>
          <p:cNvPr id="23" name="TextBox 22"/>
          <p:cNvSpPr txBox="1"/>
          <p:nvPr/>
        </p:nvSpPr>
        <p:spPr>
          <a:xfrm>
            <a:off x="9162288" y="2459736"/>
            <a:ext cx="1956816" cy="411480"/>
          </a:xfrm>
          <a:prstGeom prst="rect">
            <a:avLst/>
          </a:prstGeom>
          <a:noFill/>
        </p:spPr>
        <p:txBody>
          <a:bodyPr wrap="square" lIns="0" rIns="0" tIns="0" bIns="0" anchor="t">
            <a:noAutofit/>
          </a:bodyPr>
          <a:lstStyle/>
          <a:p>
            <a:pPr algn="l"/>
            <a:r>
              <a:rPr sz="2000" b="1" i="0">
                <a:solidFill>
                  <a:srgbClr val="FF7A3D"/>
                </a:solidFill>
                <a:latin typeface="Space Grotesk"/>
              </a:rPr>
              <a:t>Learning loop</a:t>
            </a:r>
          </a:p>
        </p:txBody>
      </p:sp>
      <p:cxnSp>
        <p:nvCxnSpPr>
          <p:cNvPr id="24" name="Connector 23"/>
          <p:cNvCxnSpPr/>
          <p:nvPr/>
        </p:nvCxnSpPr>
        <p:spPr>
          <a:xfrm>
            <a:off x="9162288" y="2971800"/>
            <a:ext cx="1956816"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162288" y="3154680"/>
            <a:ext cx="1956816" cy="2194560"/>
          </a:xfrm>
          <a:prstGeom prst="rect">
            <a:avLst/>
          </a:prstGeom>
          <a:noFill/>
        </p:spPr>
        <p:txBody>
          <a:bodyPr wrap="square" lIns="0" rIns="0" tIns="0" bIns="0" anchor="t">
            <a:noAutofit/>
          </a:bodyPr>
          <a:lstStyle/>
          <a:p>
            <a:pPr algn="l">
              <a:spcAft>
                <a:spcPts val="800"/>
              </a:spcAft>
            </a:pPr>
            <a:r>
              <a:rPr sz="1500" b="0" i="0">
                <a:solidFill>
                  <a:srgbClr val="EDEAE3"/>
                </a:solidFill>
                <a:latin typeface="Space Grotesk"/>
              </a:rPr>
              <a:t>A reviewer agent proposes a lesson from each mistake.</a:t>
            </a:r>
          </a:p>
          <a:p>
            <a:pPr algn="l">
              <a:spcAft>
                <a:spcPts val="800"/>
              </a:spcAft>
            </a:pPr>
            <a:r>
              <a:rPr sz="1500" b="0" i="0">
                <a:solidFill>
                  <a:srgbClr val="EDEAE3"/>
                </a:solidFill>
                <a:latin typeface="Space Grotesk"/>
              </a:rPr>
              <a:t>A person approves it, and every agent reads it next time.</a:t>
            </a:r>
          </a:p>
          <a:p>
            <a:pPr algn="l">
              <a:spcAft>
                <a:spcPts val="800"/>
              </a:spcAft>
            </a:pPr>
            <a:r>
              <a:rPr sz="1500" b="0" i="0">
                <a:solidFill>
                  <a:srgbClr val="EDEAE3"/>
                </a:solidFill>
                <a:latin typeface="Space Grotesk"/>
              </a:rPr>
              <a:t>Mistakes that come back become automatic checks.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Every agent setup passed; the swarm cost most</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RESULTS</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Source: grok-bakeoff harness, results/scores.csv (checklist, minutes, cost) and sweep-results/scores.csv (fixed, minutes, cost). One run per setup, Oct 27, 2026.</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graphicFrame>
        <p:nvGraphicFramePr>
          <p:cNvPr id="6" name="Results table"/>
          <p:cNvGraphicFramePr>
            <a:graphicFrameLocks noGrp="1"/>
          </p:cNvGraphicFramePr>
          <p:nvPr/>
        </p:nvGraphicFramePr>
        <p:xfrm>
          <a:off x="813816" y="1783080"/>
          <a:ext cx="10561320" cy="2889504"/>
        </p:xfrm>
        <a:graphic>
          <a:graphicData uri="http://schemas.openxmlformats.org/drawingml/2006/table">
            <a:tbl>
              <a:tblPr>
                <a:tableStyleId>{5C22544A-7EE6-4342-B048-85BDC9FD1C3A}</a:tableStyleId>
              </a:tblPr>
              <a:tblGrid>
                <a:gridCol w="3081528"/>
                <a:gridCol w="1246632"/>
                <a:gridCol w="1246632"/>
                <a:gridCol w="1246632"/>
                <a:gridCol w="1246632"/>
                <a:gridCol w="1246632"/>
                <a:gridCol w="1246632"/>
              </a:tblGrid>
              <a:tr h="420624">
                <a:tc>
                  <a:txBody>
                    <a:bodyPr wrap="square"/>
                    <a:lstStyle/>
                    <a:p>
                      <a:pPr algn="ctr"/>
                      <a:r>
                        <a:rPr sz="1500" b="0">
                          <a:solidFill>
                            <a:srgbClr val="EDEAE3"/>
                          </a:solidFill>
                          <a:latin typeface="Space Grotesk"/>
                        </a:rPr>
                        <a:t/>
                      </a:r>
                    </a:p>
                  </a:txBody>
                  <a:tcPr anchor="ctr" marL="91440" marR="91440" marT="27432" marB="27432">
                    <a:solidFill>
                      <a:srgbClr val="0F1419"/>
                    </a:solidFill>
                  </a:tcPr>
                </a:tc>
                <a:tc gridSpan="3">
                  <a:txBody>
                    <a:bodyPr wrap="square"/>
                    <a:lstStyle/>
                    <a:p>
                      <a:pPr algn="ctr"/>
                      <a:r>
                        <a:rPr sz="1300" b="1">
                          <a:solidFill>
                            <a:srgbClr val="A9B4BF"/>
                          </a:solidFill>
                          <a:latin typeface="JetBrains Mono"/>
                        </a:rPr>
                        <a:t>TASK 1: BUILD A DASHBOARD</a:t>
                      </a:r>
                    </a:p>
                  </a:txBody>
                  <a:tcPr anchor="ctr" marL="91440" marR="91440" marT="27432" marB="27432">
                    <a:solidFill>
                      <a:srgbClr val="0F1419"/>
                    </a:solidFill>
                  </a:tcPr>
                </a:tc>
                <a:tc hMerge="1">
                  <a:txBody>
                    <a:bodyPr/>
                    <a:lstStyle/>
                    <a:p/>
                  </a:txBody>
                  <a:tcPr/>
                </a:tc>
                <a:tc hMerge="1">
                  <a:txBody>
                    <a:bodyPr/>
                    <a:lstStyle/>
                    <a:p/>
                  </a:txBody>
                  <a:tcPr/>
                </a:tc>
                <a:tc gridSpan="3">
                  <a:txBody>
                    <a:bodyPr wrap="square"/>
                    <a:lstStyle/>
                    <a:p>
                      <a:pPr algn="ctr"/>
                      <a:r>
                        <a:rPr sz="1300" b="1">
                          <a:solidFill>
                            <a:srgbClr val="A9B4BF"/>
                          </a:solidFill>
                          <a:latin typeface="JetBrains Mono"/>
                        </a:rPr>
                        <a:t>TASK 2: FIX AN 8-SCREEN APP</a:t>
                      </a:r>
                    </a:p>
                  </a:txBody>
                  <a:tcPr anchor="ctr" marL="91440" marR="91440" marT="27432" marB="27432">
                    <a:solidFill>
                      <a:srgbClr val="0F1419"/>
                    </a:solidFill>
                  </a:tcPr>
                </a:tc>
                <a:tc hMerge="1">
                  <a:txBody>
                    <a:bodyPr/>
                    <a:lstStyle/>
                    <a:p/>
                  </a:txBody>
                  <a:tcPr/>
                </a:tc>
                <a:tc hMerge="1">
                  <a:txBody>
                    <a:bodyPr/>
                    <a:lstStyle/>
                    <a:p/>
                  </a:txBody>
                  <a:tcPr/>
                </a:tc>
              </a:tr>
              <a:tr h="420624">
                <a:tc>
                  <a:txBody>
                    <a:bodyPr wrap="square"/>
                    <a:lstStyle/>
                    <a:p>
                      <a:pPr algn="l"/>
                      <a:r>
                        <a:rPr sz="1500" b="1">
                          <a:solidFill>
                            <a:srgbClr val="FF7A3D"/>
                          </a:solidFill>
                          <a:latin typeface="Space Grotesk"/>
                        </a:rPr>
                        <a:t>Setup</a:t>
                      </a:r>
                    </a:p>
                  </a:txBody>
                  <a:tcPr anchor="ctr" marL="91440" marR="91440" marT="27432" marB="27432">
                    <a:solidFill>
                      <a:srgbClr val="0F1419"/>
                    </a:solidFill>
                  </a:tcPr>
                </a:tc>
                <a:tc>
                  <a:txBody>
                    <a:bodyPr wrap="square"/>
                    <a:lstStyle/>
                    <a:p>
                      <a:pPr algn="ctr"/>
                      <a:r>
                        <a:rPr sz="1500" b="1">
                          <a:solidFill>
                            <a:srgbClr val="FF7A3D"/>
                          </a:solidFill>
                          <a:latin typeface="Space Grotesk"/>
                        </a:rPr>
                        <a:t>Spec items met</a:t>
                      </a:r>
                    </a:p>
                  </a:txBody>
                  <a:tcPr anchor="ctr" marL="91440" marR="91440" marT="27432" marB="27432">
                    <a:solidFill>
                      <a:srgbClr val="0F1419"/>
                    </a:solidFill>
                  </a:tcPr>
                </a:tc>
                <a:tc>
                  <a:txBody>
                    <a:bodyPr wrap="square"/>
                    <a:lstStyle/>
                    <a:p>
                      <a:pPr algn="ctr"/>
                      <a:r>
                        <a:rPr sz="1500" b="1">
                          <a:solidFill>
                            <a:srgbClr val="FF7A3D"/>
                          </a:solidFill>
                          <a:latin typeface="Space Grotesk"/>
                        </a:rPr>
                        <a:t>Minutes</a:t>
                      </a:r>
                    </a:p>
                  </a:txBody>
                  <a:tcPr anchor="ctr" marL="91440" marR="91440" marT="27432" marB="27432">
                    <a:solidFill>
                      <a:srgbClr val="0F1419"/>
                    </a:solidFill>
                  </a:tcPr>
                </a:tc>
                <a:tc>
                  <a:txBody>
                    <a:bodyPr wrap="square"/>
                    <a:lstStyle/>
                    <a:p>
                      <a:pPr algn="ctr"/>
                      <a:r>
                        <a:rPr sz="1500" b="1">
                          <a:solidFill>
                            <a:srgbClr val="FF7A3D"/>
                          </a:solidFill>
                          <a:latin typeface="Space Grotesk"/>
                        </a:rPr>
                        <a:t>Cost</a:t>
                      </a:r>
                    </a:p>
                  </a:txBody>
                  <a:tcPr anchor="ctr" marL="91440" marR="91440" marT="27432" marB="27432">
                    <a:solidFill>
                      <a:srgbClr val="0F1419"/>
                    </a:solidFill>
                  </a:tcPr>
                </a:tc>
                <a:tc>
                  <a:txBody>
                    <a:bodyPr wrap="square"/>
                    <a:lstStyle/>
                    <a:p>
                      <a:pPr algn="ctr"/>
                      <a:r>
                        <a:rPr sz="1500" b="1">
                          <a:solidFill>
                            <a:srgbClr val="FF7A3D"/>
                          </a:solidFill>
                          <a:latin typeface="Space Grotesk"/>
                        </a:rPr>
                        <a:t>Defects fixed</a:t>
                      </a:r>
                    </a:p>
                  </a:txBody>
                  <a:tcPr anchor="ctr" marL="91440" marR="91440" marT="27432" marB="27432">
                    <a:solidFill>
                      <a:srgbClr val="0F1419"/>
                    </a:solidFill>
                  </a:tcPr>
                </a:tc>
                <a:tc>
                  <a:txBody>
                    <a:bodyPr wrap="square"/>
                    <a:lstStyle/>
                    <a:p>
                      <a:pPr algn="ctr"/>
                      <a:r>
                        <a:rPr sz="1500" b="1">
                          <a:solidFill>
                            <a:srgbClr val="FF7A3D"/>
                          </a:solidFill>
                          <a:latin typeface="Space Grotesk"/>
                        </a:rPr>
                        <a:t>Minutes</a:t>
                      </a:r>
                    </a:p>
                  </a:txBody>
                  <a:tcPr anchor="ctr" marL="91440" marR="91440" marT="27432" marB="27432">
                    <a:solidFill>
                      <a:srgbClr val="0F1419"/>
                    </a:solidFill>
                  </a:tcPr>
                </a:tc>
                <a:tc>
                  <a:txBody>
                    <a:bodyPr wrap="square"/>
                    <a:lstStyle/>
                    <a:p>
                      <a:pPr algn="ctr"/>
                      <a:r>
                        <a:rPr sz="1500" b="1">
                          <a:solidFill>
                            <a:srgbClr val="FF7A3D"/>
                          </a:solidFill>
                          <a:latin typeface="Space Grotesk"/>
                        </a:rPr>
                        <a:t>Cost</a:t>
                      </a:r>
                    </a:p>
                  </a:txBody>
                  <a:tcPr anchor="ctr" marL="91440" marR="91440" marT="27432" marB="27432">
                    <a:solidFill>
                      <a:srgbClr val="0F1419"/>
                    </a:solidFill>
                  </a:tcPr>
                </a:tc>
              </a:tr>
              <a:tr h="512064">
                <a:tc>
                  <a:txBody>
                    <a:bodyPr wrap="square"/>
                    <a:lstStyle/>
                    <a:p>
                      <a:pPr algn="l"/>
                      <a:r>
                        <a:rPr sz="1500" b="1">
                          <a:solidFill>
                            <a:srgbClr val="14191F"/>
                          </a:solidFill>
                          <a:latin typeface="Space Grotesk"/>
                        </a:rPr>
                        <a:t>Swarm (planner and parallel agents)</a:t>
                      </a:r>
                    </a:p>
                  </a:txBody>
                  <a:tcPr anchor="ctr" marL="91440" marR="91440" marT="27432" marB="27432">
                    <a:solidFill>
                      <a:srgbClr val="FFFFFF"/>
                    </a:solidFill>
                  </a:tcPr>
                </a:tc>
                <a:tc>
                  <a:txBody>
                    <a:bodyPr wrap="square"/>
                    <a:lstStyle/>
                    <a:p>
                      <a:pPr algn="ctr"/>
                      <a:r>
                        <a:rPr sz="1500" b="0">
                          <a:solidFill>
                            <a:srgbClr val="14191F"/>
                          </a:solidFill>
                          <a:latin typeface="Space Grotesk"/>
                        </a:rPr>
                        <a:t>11 of 11</a:t>
                      </a:r>
                    </a:p>
                  </a:txBody>
                  <a:tcPr anchor="ctr" marL="91440" marR="91440" marT="27432" marB="27432">
                    <a:solidFill>
                      <a:srgbClr val="FFFFFF"/>
                    </a:solidFill>
                  </a:tcPr>
                </a:tc>
                <a:tc>
                  <a:txBody>
                    <a:bodyPr wrap="square"/>
                    <a:lstStyle/>
                    <a:p>
                      <a:pPr algn="ctr"/>
                      <a:r>
                        <a:rPr sz="1500" b="0">
                          <a:solidFill>
                            <a:srgbClr val="14191F"/>
                          </a:solidFill>
                          <a:latin typeface="Space Grotesk"/>
                        </a:rPr>
                        <a:t>25.9</a:t>
                      </a:r>
                    </a:p>
                  </a:txBody>
                  <a:tcPr anchor="ctr" marL="91440" marR="91440" marT="27432" marB="27432">
                    <a:solidFill>
                      <a:srgbClr val="FFFFFF"/>
                    </a:solidFill>
                  </a:tcPr>
                </a:tc>
                <a:tc>
                  <a:txBody>
                    <a:bodyPr wrap="square"/>
                    <a:lstStyle/>
                    <a:p>
                      <a:pPr algn="ctr"/>
                      <a:r>
                        <a:rPr sz="1500" b="0">
                          <a:solidFill>
                            <a:srgbClr val="14191F"/>
                          </a:solidFill>
                          <a:latin typeface="Space Grotesk"/>
                        </a:rPr>
                        <a:t>$4.80</a:t>
                      </a:r>
                    </a:p>
                  </a:txBody>
                  <a:tcPr anchor="ctr" marL="91440" marR="91440" marT="27432" marB="27432">
                    <a:solidFill>
                      <a:srgbClr val="FFFFFF"/>
                    </a:solidFill>
                  </a:tcPr>
                </a:tc>
                <a:tc>
                  <a:txBody>
                    <a:bodyPr wrap="square"/>
                    <a:lstStyle/>
                    <a:p>
                      <a:pPr algn="ctr"/>
                      <a:r>
                        <a:rPr sz="1500" b="0">
                          <a:solidFill>
                            <a:srgbClr val="14191F"/>
                          </a:solidFill>
                          <a:latin typeface="Space Grotesk"/>
                        </a:rPr>
                        <a:t>16 of 16</a:t>
                      </a:r>
                    </a:p>
                  </a:txBody>
                  <a:tcPr anchor="ctr" marL="91440" marR="91440" marT="27432" marB="27432">
                    <a:solidFill>
                      <a:srgbClr val="FFFFFF"/>
                    </a:solidFill>
                  </a:tcPr>
                </a:tc>
                <a:tc>
                  <a:txBody>
                    <a:bodyPr wrap="square"/>
                    <a:lstStyle/>
                    <a:p>
                      <a:pPr algn="ctr"/>
                      <a:r>
                        <a:rPr sz="1500" b="0">
                          <a:solidFill>
                            <a:srgbClr val="14191F"/>
                          </a:solidFill>
                          <a:latin typeface="Space Grotesk"/>
                        </a:rPr>
                        <a:t>37.4</a:t>
                      </a:r>
                    </a:p>
                  </a:txBody>
                  <a:tcPr anchor="ctr" marL="91440" marR="91440" marT="27432" marB="27432">
                    <a:solidFill>
                      <a:srgbClr val="FFFFFF"/>
                    </a:solidFill>
                  </a:tcPr>
                </a:tc>
                <a:tc>
                  <a:txBody>
                    <a:bodyPr wrap="square"/>
                    <a:lstStyle/>
                    <a:p>
                      <a:pPr algn="ctr"/>
                      <a:r>
                        <a:rPr sz="1500" b="0">
                          <a:solidFill>
                            <a:srgbClr val="14191F"/>
                          </a:solidFill>
                          <a:latin typeface="Space Grotesk"/>
                        </a:rPr>
                        <a:t>$25.94</a:t>
                      </a:r>
                    </a:p>
                  </a:txBody>
                  <a:tcPr anchor="ctr" marL="91440" marR="91440" marT="27432" marB="27432">
                    <a:solidFill>
                      <a:srgbClr val="FFFFFF"/>
                    </a:solidFill>
                  </a:tcPr>
                </a:tc>
              </a:tr>
              <a:tr h="512064">
                <a:tc>
                  <a:txBody>
                    <a:bodyPr wrap="square"/>
                    <a:lstStyle/>
                    <a:p>
                      <a:pPr algn="l"/>
                      <a:r>
                        <a:rPr sz="1500" b="1">
                          <a:solidFill>
                            <a:srgbClr val="14191F"/>
                          </a:solidFill>
                          <a:latin typeface="Space Grotesk"/>
                        </a:rPr>
                        <a:t>Single agent</a:t>
                      </a:r>
                    </a:p>
                  </a:txBody>
                  <a:tcPr anchor="ctr" marL="91440" marR="91440" marT="27432" marB="27432">
                    <a:solidFill>
                      <a:srgbClr val="EFEBE2"/>
                    </a:solidFill>
                  </a:tcPr>
                </a:tc>
                <a:tc>
                  <a:txBody>
                    <a:bodyPr wrap="square"/>
                    <a:lstStyle/>
                    <a:p>
                      <a:pPr algn="ctr"/>
                      <a:r>
                        <a:rPr sz="1500" b="0">
                          <a:solidFill>
                            <a:srgbClr val="14191F"/>
                          </a:solidFill>
                          <a:latin typeface="Space Grotesk"/>
                        </a:rPr>
                        <a:t>11 of 11</a:t>
                      </a:r>
                    </a:p>
                  </a:txBody>
                  <a:tcPr anchor="ctr" marL="91440" marR="91440" marT="27432" marB="27432">
                    <a:solidFill>
                      <a:srgbClr val="EFEBE2"/>
                    </a:solidFill>
                  </a:tcPr>
                </a:tc>
                <a:tc>
                  <a:txBody>
                    <a:bodyPr wrap="square"/>
                    <a:lstStyle/>
                    <a:p>
                      <a:pPr algn="ctr"/>
                      <a:r>
                        <a:rPr sz="1500" b="0">
                          <a:solidFill>
                            <a:srgbClr val="14191F"/>
                          </a:solidFill>
                          <a:latin typeface="Space Grotesk"/>
                        </a:rPr>
                        <a:t>23.5</a:t>
                      </a:r>
                    </a:p>
                  </a:txBody>
                  <a:tcPr anchor="ctr" marL="91440" marR="91440" marT="27432" marB="27432">
                    <a:solidFill>
                      <a:srgbClr val="EFEBE2"/>
                    </a:solidFill>
                  </a:tcPr>
                </a:tc>
                <a:tc>
                  <a:txBody>
                    <a:bodyPr wrap="square"/>
                    <a:lstStyle/>
                    <a:p>
                      <a:pPr algn="ctr"/>
                      <a:r>
                        <a:rPr sz="1500" b="0">
                          <a:solidFill>
                            <a:srgbClr val="14191F"/>
                          </a:solidFill>
                          <a:latin typeface="Space Grotesk"/>
                        </a:rPr>
                        <a:t>$3.21</a:t>
                      </a:r>
                    </a:p>
                  </a:txBody>
                  <a:tcPr anchor="ctr" marL="91440" marR="91440" marT="27432" marB="27432">
                    <a:solidFill>
                      <a:srgbClr val="EFEBE2"/>
                    </a:solidFill>
                  </a:tcPr>
                </a:tc>
                <a:tc>
                  <a:txBody>
                    <a:bodyPr wrap="square"/>
                    <a:lstStyle/>
                    <a:p>
                      <a:pPr algn="ctr"/>
                      <a:r>
                        <a:rPr sz="1500" b="0">
                          <a:solidFill>
                            <a:srgbClr val="14191F"/>
                          </a:solidFill>
                          <a:latin typeface="Space Grotesk"/>
                        </a:rPr>
                        <a:t>16 of 16</a:t>
                      </a:r>
                    </a:p>
                  </a:txBody>
                  <a:tcPr anchor="ctr" marL="91440" marR="91440" marT="27432" marB="27432">
                    <a:solidFill>
                      <a:srgbClr val="EFEBE2"/>
                    </a:solidFill>
                  </a:tcPr>
                </a:tc>
                <a:tc>
                  <a:txBody>
                    <a:bodyPr wrap="square"/>
                    <a:lstStyle/>
                    <a:p>
                      <a:pPr algn="ctr"/>
                      <a:r>
                        <a:rPr sz="1500" b="0">
                          <a:solidFill>
                            <a:srgbClr val="14191F"/>
                          </a:solidFill>
                          <a:latin typeface="Space Grotesk"/>
                        </a:rPr>
                        <a:t>25.5</a:t>
                      </a:r>
                    </a:p>
                  </a:txBody>
                  <a:tcPr anchor="ctr" marL="91440" marR="91440" marT="27432" marB="27432">
                    <a:solidFill>
                      <a:srgbClr val="EFEBE2"/>
                    </a:solidFill>
                  </a:tcPr>
                </a:tc>
                <a:tc>
                  <a:txBody>
                    <a:bodyPr wrap="square"/>
                    <a:lstStyle/>
                    <a:p>
                      <a:pPr algn="ctr"/>
                      <a:r>
                        <a:rPr sz="1500" b="0">
                          <a:solidFill>
                            <a:srgbClr val="14191F"/>
                          </a:solidFill>
                          <a:latin typeface="Space Grotesk"/>
                        </a:rPr>
                        <a:t>$6.40</a:t>
                      </a:r>
                    </a:p>
                  </a:txBody>
                  <a:tcPr anchor="ctr" marL="91440" marR="91440" marT="27432" marB="27432">
                    <a:solidFill>
                      <a:srgbClr val="EFEBE2"/>
                    </a:solidFill>
                  </a:tcPr>
                </a:tc>
              </a:tr>
              <a:tr h="512064">
                <a:tc>
                  <a:txBody>
                    <a:bodyPr wrap="square"/>
                    <a:lstStyle/>
                    <a:p>
                      <a:pPr algn="l"/>
                      <a:r>
                        <a:rPr sz="1500" b="1">
                          <a:solidFill>
                            <a:srgbClr val="14191F"/>
                          </a:solidFill>
                          <a:latin typeface="Space Grotesk"/>
                        </a:rPr>
                        <a:t>Standard spawned agents</a:t>
                      </a:r>
                    </a:p>
                  </a:txBody>
                  <a:tcPr anchor="ctr" marL="91440" marR="91440" marT="27432" marB="27432">
                    <a:solidFill>
                      <a:srgbClr val="FFFFFF"/>
                    </a:solidFill>
                  </a:tcPr>
                </a:tc>
                <a:tc>
                  <a:txBody>
                    <a:bodyPr wrap="square"/>
                    <a:lstStyle/>
                    <a:p>
                      <a:pPr algn="ctr"/>
                      <a:r>
                        <a:rPr sz="1500" b="0">
                          <a:solidFill>
                            <a:srgbClr val="14191F"/>
                          </a:solidFill>
                          <a:latin typeface="Space Grotesk"/>
                        </a:rPr>
                        <a:t>11 of 11</a:t>
                      </a:r>
                    </a:p>
                  </a:txBody>
                  <a:tcPr anchor="ctr" marL="91440" marR="91440" marT="27432" marB="27432">
                    <a:solidFill>
                      <a:srgbClr val="FFFFFF"/>
                    </a:solidFill>
                  </a:tcPr>
                </a:tc>
                <a:tc>
                  <a:txBody>
                    <a:bodyPr wrap="square"/>
                    <a:lstStyle/>
                    <a:p>
                      <a:pPr algn="ctr"/>
                      <a:r>
                        <a:rPr sz="1500" b="0">
                          <a:solidFill>
                            <a:srgbClr val="14191F"/>
                          </a:solidFill>
                          <a:latin typeface="Space Grotesk"/>
                        </a:rPr>
                        <a:t>20.8</a:t>
                      </a:r>
                    </a:p>
                  </a:txBody>
                  <a:tcPr anchor="ctr" marL="91440" marR="91440" marT="27432" marB="27432">
                    <a:solidFill>
                      <a:srgbClr val="FFFFFF"/>
                    </a:solidFill>
                  </a:tcPr>
                </a:tc>
                <a:tc>
                  <a:txBody>
                    <a:bodyPr wrap="square"/>
                    <a:lstStyle/>
                    <a:p>
                      <a:pPr algn="ctr"/>
                      <a:r>
                        <a:rPr sz="1500" b="0">
                          <a:solidFill>
                            <a:srgbClr val="14191F"/>
                          </a:solidFill>
                          <a:latin typeface="Space Grotesk"/>
                        </a:rPr>
                        <a:t>$3.94</a:t>
                      </a:r>
                    </a:p>
                  </a:txBody>
                  <a:tcPr anchor="ctr" marL="91440" marR="91440" marT="27432" marB="27432">
                    <a:solidFill>
                      <a:srgbClr val="FFFFFF"/>
                    </a:solidFill>
                  </a:tcPr>
                </a:tc>
                <a:tc>
                  <a:txBody>
                    <a:bodyPr wrap="square"/>
                    <a:lstStyle/>
                    <a:p>
                      <a:pPr algn="ctr"/>
                      <a:r>
                        <a:rPr sz="1500" b="0">
                          <a:solidFill>
                            <a:srgbClr val="14191F"/>
                          </a:solidFill>
                          <a:latin typeface="Space Grotesk"/>
                        </a:rPr>
                        <a:t>Not run</a:t>
                      </a:r>
                    </a:p>
                  </a:txBody>
                  <a:tcPr anchor="ctr" marL="91440" marR="91440" marT="27432" marB="27432">
                    <a:solidFill>
                      <a:srgbClr val="FFFFFF"/>
                    </a:solidFill>
                  </a:tcPr>
                </a:tc>
                <a:tc>
                  <a:txBody>
                    <a:bodyPr wrap="square"/>
                    <a:lstStyle/>
                    <a:p>
                      <a:pPr algn="ctr"/>
                      <a:r>
                        <a:rPr sz="1500" b="0">
                          <a:solidFill>
                            <a:srgbClr val="14191F"/>
                          </a:solidFill>
                          <a:latin typeface="Space Grotesk"/>
                        </a:rPr>
                        <a:t>-</a:t>
                      </a:r>
                    </a:p>
                  </a:txBody>
                  <a:tcPr anchor="ctr" marL="91440" marR="91440" marT="27432" marB="27432">
                    <a:solidFill>
                      <a:srgbClr val="FFFFFF"/>
                    </a:solidFill>
                  </a:tcPr>
                </a:tc>
                <a:tc>
                  <a:txBody>
                    <a:bodyPr wrap="square"/>
                    <a:lstStyle/>
                    <a:p>
                      <a:pPr algn="ctr"/>
                      <a:r>
                        <a:rPr sz="1500" b="0">
                          <a:solidFill>
                            <a:srgbClr val="14191F"/>
                          </a:solidFill>
                          <a:latin typeface="Space Grotesk"/>
                        </a:rPr>
                        <a:t>-</a:t>
                      </a:r>
                    </a:p>
                  </a:txBody>
                  <a:tcPr anchor="ctr" marL="91440" marR="91440" marT="27432" marB="27432">
                    <a:solidFill>
                      <a:srgbClr val="FFFFFF"/>
                    </a:solidFill>
                  </a:tcPr>
                </a:tc>
              </a:tr>
              <a:tr h="512064">
                <a:tc>
                  <a:txBody>
                    <a:bodyPr wrap="square"/>
                    <a:lstStyle/>
                    <a:p>
                      <a:pPr algn="l"/>
                      <a:r>
                        <a:rPr sz="1500" b="1">
                          <a:solidFill>
                            <a:srgbClr val="14191F"/>
                          </a:solidFill>
                          <a:latin typeface="Space Grotesk"/>
                        </a:rPr>
                        <a:t>grok.com chat (no agent tools)</a:t>
                      </a:r>
                    </a:p>
                  </a:txBody>
                  <a:tcPr anchor="ctr" marL="91440" marR="91440" marT="27432" marB="27432">
                    <a:solidFill>
                      <a:srgbClr val="EFEBE2"/>
                    </a:solidFill>
                  </a:tcPr>
                </a:tc>
                <a:tc>
                  <a:txBody>
                    <a:bodyPr wrap="square"/>
                    <a:lstStyle/>
                    <a:p>
                      <a:pPr algn="ctr"/>
                      <a:r>
                        <a:rPr sz="1500" b="0">
                          <a:solidFill>
                            <a:srgbClr val="14191F"/>
                          </a:solidFill>
                          <a:latin typeface="Space Grotesk"/>
                        </a:rPr>
                        <a:t>10 of 11 *</a:t>
                      </a:r>
                    </a:p>
                  </a:txBody>
                  <a:tcPr anchor="ctr" marL="91440" marR="91440" marT="27432" marB="27432">
                    <a:solidFill>
                      <a:srgbClr val="EFEBE2"/>
                    </a:solidFill>
                  </a:tcPr>
                </a:tc>
                <a:tc>
                  <a:txBody>
                    <a:bodyPr wrap="square"/>
                    <a:lstStyle/>
                    <a:p>
                      <a:pPr algn="ctr"/>
                      <a:r>
                        <a:rPr sz="1500" b="0">
                          <a:solidFill>
                            <a:srgbClr val="14191F"/>
                          </a:solidFill>
                          <a:latin typeface="Space Grotesk"/>
                        </a:rPr>
                        <a:t>3.9</a:t>
                      </a:r>
                    </a:p>
                  </a:txBody>
                  <a:tcPr anchor="ctr" marL="91440" marR="91440" marT="27432" marB="27432">
                    <a:solidFill>
                      <a:srgbClr val="EFEBE2"/>
                    </a:solidFill>
                  </a:tcPr>
                </a:tc>
                <a:tc>
                  <a:txBody>
                    <a:bodyPr wrap="square"/>
                    <a:lstStyle/>
                    <a:p>
                      <a:pPr algn="ctr"/>
                      <a:r>
                        <a:rPr sz="1500" b="0">
                          <a:solidFill>
                            <a:srgbClr val="14191F"/>
                          </a:solidFill>
                          <a:latin typeface="Space Grotesk"/>
                        </a:rPr>
                        <a:t>n/a</a:t>
                      </a:r>
                    </a:p>
                  </a:txBody>
                  <a:tcPr anchor="ctr" marL="91440" marR="91440" marT="27432" marB="27432">
                    <a:solidFill>
                      <a:srgbClr val="EFEBE2"/>
                    </a:solidFill>
                  </a:tcPr>
                </a:tc>
                <a:tc>
                  <a:txBody>
                    <a:bodyPr wrap="square"/>
                    <a:lstStyle/>
                    <a:p>
                      <a:pPr algn="ctr"/>
                      <a:r>
                        <a:rPr sz="1500" b="0">
                          <a:solidFill>
                            <a:srgbClr val="14191F"/>
                          </a:solidFill>
                          <a:latin typeface="Space Grotesk"/>
                        </a:rPr>
                        <a:t>0 of 16 *</a:t>
                      </a:r>
                    </a:p>
                  </a:txBody>
                  <a:tcPr anchor="ctr" marL="91440" marR="91440" marT="27432" marB="27432">
                    <a:solidFill>
                      <a:srgbClr val="EFEBE2"/>
                    </a:solidFill>
                  </a:tcPr>
                </a:tc>
                <a:tc>
                  <a:txBody>
                    <a:bodyPr wrap="square"/>
                    <a:lstStyle/>
                    <a:p>
                      <a:pPr algn="ctr"/>
                      <a:r>
                        <a:rPr sz="1500" b="0">
                          <a:solidFill>
                            <a:srgbClr val="14191F"/>
                          </a:solidFill>
                          <a:latin typeface="Space Grotesk"/>
                        </a:rPr>
                        <a:t>~12</a:t>
                      </a:r>
                    </a:p>
                  </a:txBody>
                  <a:tcPr anchor="ctr" marL="91440" marR="91440" marT="27432" marB="27432">
                    <a:solidFill>
                      <a:srgbClr val="EFEBE2"/>
                    </a:solidFill>
                  </a:tcPr>
                </a:tc>
                <a:tc>
                  <a:txBody>
                    <a:bodyPr wrap="square"/>
                    <a:lstStyle/>
                    <a:p>
                      <a:pPr algn="ctr"/>
                      <a:r>
                        <a:rPr sz="1500" b="0">
                          <a:solidFill>
                            <a:srgbClr val="14191F"/>
                          </a:solidFill>
                          <a:latin typeface="Space Grotesk"/>
                        </a:rPr>
                        <a:t>n/a</a:t>
                      </a:r>
                    </a:p>
                  </a:txBody>
                  <a:tcPr anchor="ctr" marL="91440" marR="91440" marT="27432" marB="27432">
                    <a:solidFill>
                      <a:srgbClr val="EFEBE2"/>
                    </a:solidFill>
                  </a:tcPr>
                </a:tc>
              </a:tr>
            </a:tbl>
          </a:graphicData>
        </a:graphic>
      </p:graphicFrame>
      <p:sp>
        <p:nvSpPr>
          <p:cNvPr id="7" name="Table notes"/>
          <p:cNvSpPr txBox="1"/>
          <p:nvPr/>
        </p:nvSpPr>
        <p:spPr>
          <a:xfrm>
            <a:off x="813816" y="4919472"/>
            <a:ext cx="10561320" cy="1005840"/>
          </a:xfrm>
          <a:prstGeom prst="rect">
            <a:avLst/>
          </a:prstGeom>
          <a:noFill/>
        </p:spPr>
        <p:txBody>
          <a:bodyPr wrap="square" lIns="0" rIns="0" tIns="0" bIns="0" anchor="t">
            <a:noAutofit/>
          </a:bodyPr>
          <a:lstStyle/>
          <a:p>
            <a:pPr algn="l">
              <a:spcAft>
                <a:spcPts val="400"/>
              </a:spcAft>
            </a:pPr>
            <a:r>
              <a:rPr sz="1400" b="0" i="0">
                <a:solidFill>
                  <a:srgbClr val="4A5361"/>
                </a:solidFill>
                <a:latin typeface="Space Grotesk"/>
              </a:rPr>
              <a:t>* Chat: its bar chart rendered empty (task 1). It committed one screen as a placeholder line, so the app did not load (task 2).</a:t>
            </a:r>
          </a:p>
          <a:p>
            <a:pPr algn="l">
              <a:spcAft>
                <a:spcPts val="400"/>
              </a:spcAft>
            </a:pPr>
            <a:r>
              <a:rPr sz="1400" b="0" i="0">
                <a:solidFill>
                  <a:srgbClr val="4A5361"/>
                </a:solidFill>
                <a:latin typeface="Space Grotesk"/>
              </a:rPr>
              <a:t>Cost is Grok usage across every session in a run. Chat cost was not measured.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The chat’s chart came out empty</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SIDE BY SIDE: TASK 1, BUILD A DASHBOARD</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Source: grok-bakeoff harness, results/web-1/shot-1280.png and results/swarm-1/shot-1280.png (top 780 px of each); results/scores.csv (checklist). Oct 27, 2026.</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sp>
        <p:nvSpPr>
          <p:cNvPr id="6" name="GROK.COM CHAT label"/>
          <p:cNvSpPr txBox="1"/>
          <p:nvPr/>
        </p:nvSpPr>
        <p:spPr>
          <a:xfrm>
            <a:off x="813816" y="1783080"/>
            <a:ext cx="5120640" cy="274320"/>
          </a:xfrm>
          <a:prstGeom prst="rect">
            <a:avLst/>
          </a:prstGeom>
          <a:noFill/>
        </p:spPr>
        <p:txBody>
          <a:bodyPr wrap="square" lIns="0" rIns="0" tIns="0" bIns="0" anchor="t">
            <a:noAutofit/>
          </a:bodyPr>
          <a:lstStyle/>
          <a:p>
            <a:pPr algn="l"/>
            <a:r>
              <a:rPr sz="1400" b="1" i="0">
                <a:solidFill>
                  <a:srgbClr val="B8430F"/>
                </a:solidFill>
                <a:latin typeface="JetBrains Mono"/>
              </a:rPr>
              <a:t>GROK.COM CHAT</a:t>
            </a:r>
            <a:r>
              <a:rPr sz="1500" b="1" i="0">
                <a:solidFill>
                  <a:srgbClr val="14191F"/>
                </a:solidFill>
                <a:latin typeface="Space Grotesk"/>
              </a:rPr>
              <a:t>   10 of 11 spec items</a:t>
            </a:r>
          </a:p>
        </p:txBody>
      </p:sp>
      <p:pic>
        <p:nvPicPr>
          <p:cNvPr id="7" name="GROK.COM CHAT screenshot" descr="task1-chat.png"/>
          <p:cNvPicPr>
            <a:picLocks noChangeAspect="1"/>
          </p:cNvPicPr>
          <p:nvPr/>
        </p:nvPicPr>
        <p:blipFill>
          <a:blip r:embed="rId3"/>
          <a:stretch>
            <a:fillRect/>
          </a:stretch>
        </p:blipFill>
        <p:spPr>
          <a:xfrm>
            <a:off x="813816" y="2167128"/>
            <a:ext cx="5120640" cy="3120390"/>
          </a:xfrm>
          <a:prstGeom prst="rect">
            <a:avLst/>
          </a:prstGeom>
          <a:ln w="12700">
            <a:solidFill>
              <a:srgbClr val="DFDCD7"/>
            </a:solidFill>
          </a:ln>
        </p:spPr>
      </p:pic>
      <p:sp>
        <p:nvSpPr>
          <p:cNvPr id="8" name="GROK.COM CHAT callout"/>
          <p:cNvSpPr/>
          <p:nvPr/>
        </p:nvSpPr>
        <p:spPr>
          <a:xfrm>
            <a:off x="1205865" y="3735324"/>
            <a:ext cx="4336542" cy="820102"/>
          </a:xfrm>
          <a:prstGeom prst="roundRect">
            <a:avLst>
              <a:gd name="adj" fmla="val 6689"/>
            </a:avLst>
          </a:prstGeom>
          <a:noFill/>
          <a:ln w="28575">
            <a:solidFill>
              <a:srgbClr val="B843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ROK.COM CHAT callout label"/>
          <p:cNvSpPr/>
          <p:nvPr/>
        </p:nvSpPr>
        <p:spPr>
          <a:xfrm>
            <a:off x="4243958" y="3488436"/>
            <a:ext cx="1188720" cy="292608"/>
          </a:xfrm>
          <a:prstGeom prst="roundRect">
            <a:avLst>
              <a:gd name="adj" fmla="val 50000"/>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7A3D"/>
                </a:solidFill>
                <a:latin typeface="Space Grotesk"/>
              </a:rPr>
              <a:t>Empty chart</a:t>
            </a:r>
          </a:p>
        </p:txBody>
      </p:sp>
      <p:sp>
        <p:nvSpPr>
          <p:cNvPr id="10" name="GROK.COM CHAT caption"/>
          <p:cNvSpPr txBox="1"/>
          <p:nvPr/>
        </p:nvSpPr>
        <p:spPr>
          <a:xfrm>
            <a:off x="813816" y="5415533"/>
            <a:ext cx="5120640" cy="573786"/>
          </a:xfrm>
          <a:prstGeom prst="rect">
            <a:avLst/>
          </a:prstGeom>
          <a:noFill/>
        </p:spPr>
        <p:txBody>
          <a:bodyPr wrap="square" lIns="0" rIns="0" tIns="0" bIns="0" anchor="t">
            <a:noAutofit/>
          </a:bodyPr>
          <a:lstStyle/>
          <a:p>
            <a:pPr algn="l"/>
            <a:r>
              <a:rPr sz="1500" b="0" i="0">
                <a:solidFill>
                  <a:srgbClr val="14191F"/>
                </a:solidFill>
                <a:latin typeface="Space Grotesk"/>
              </a:rPr>
              <a:t>The numbers are right, but all 12 bars render at zero height. The build still passed.</a:t>
            </a:r>
          </a:p>
        </p:txBody>
      </p:sp>
      <p:sp>
        <p:nvSpPr>
          <p:cNvPr id="11" name="GROK BUILD SWARM label"/>
          <p:cNvSpPr txBox="1"/>
          <p:nvPr/>
        </p:nvSpPr>
        <p:spPr>
          <a:xfrm>
            <a:off x="6254495" y="1783080"/>
            <a:ext cx="5120640" cy="274320"/>
          </a:xfrm>
          <a:prstGeom prst="rect">
            <a:avLst/>
          </a:prstGeom>
          <a:noFill/>
        </p:spPr>
        <p:txBody>
          <a:bodyPr wrap="square" lIns="0" rIns="0" tIns="0" bIns="0" anchor="t">
            <a:noAutofit/>
          </a:bodyPr>
          <a:lstStyle/>
          <a:p>
            <a:pPr algn="l"/>
            <a:r>
              <a:rPr sz="1400" b="1" i="0">
                <a:solidFill>
                  <a:srgbClr val="B8430F"/>
                </a:solidFill>
                <a:latin typeface="JetBrains Mono"/>
              </a:rPr>
              <a:t>GROK BUILD SWARM</a:t>
            </a:r>
            <a:r>
              <a:rPr sz="1500" b="1" i="0">
                <a:solidFill>
                  <a:srgbClr val="14191F"/>
                </a:solidFill>
                <a:latin typeface="Space Grotesk"/>
              </a:rPr>
              <a:t>   11 of 11 spec items</a:t>
            </a:r>
          </a:p>
        </p:txBody>
      </p:sp>
      <p:pic>
        <p:nvPicPr>
          <p:cNvPr id="12" name="GROK BUILD SWARM screenshot" descr="task1-swarm.png"/>
          <p:cNvPicPr>
            <a:picLocks noChangeAspect="1"/>
          </p:cNvPicPr>
          <p:nvPr/>
        </p:nvPicPr>
        <p:blipFill>
          <a:blip r:embed="rId4"/>
          <a:stretch>
            <a:fillRect/>
          </a:stretch>
        </p:blipFill>
        <p:spPr>
          <a:xfrm>
            <a:off x="6254495" y="2167128"/>
            <a:ext cx="5120640" cy="3120390"/>
          </a:xfrm>
          <a:prstGeom prst="rect">
            <a:avLst/>
          </a:prstGeom>
          <a:ln w="12700">
            <a:solidFill>
              <a:srgbClr val="DFDCD7"/>
            </a:solidFill>
          </a:ln>
        </p:spPr>
      </p:pic>
      <p:sp>
        <p:nvSpPr>
          <p:cNvPr id="13" name="GROK BUILD SWARM callout"/>
          <p:cNvSpPr/>
          <p:nvPr/>
        </p:nvSpPr>
        <p:spPr>
          <a:xfrm>
            <a:off x="6646544" y="3935349"/>
            <a:ext cx="4336542" cy="752093"/>
          </a:xfrm>
          <a:prstGeom prst="roundRect">
            <a:avLst>
              <a:gd name="adj" fmla="val 7294"/>
            </a:avLst>
          </a:prstGeom>
          <a:noFill/>
          <a:ln w="28575">
            <a:solidFill>
              <a:srgbClr val="B843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ROK BUILD SWARM callout label"/>
          <p:cNvSpPr/>
          <p:nvPr/>
        </p:nvSpPr>
        <p:spPr>
          <a:xfrm>
            <a:off x="10004679" y="3688460"/>
            <a:ext cx="868680" cy="292608"/>
          </a:xfrm>
          <a:prstGeom prst="roundRect">
            <a:avLst>
              <a:gd name="adj" fmla="val 50000"/>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7A3D"/>
                </a:solidFill>
                <a:latin typeface="Space Grotesk"/>
              </a:rPr>
              <a:t>12 bars</a:t>
            </a:r>
          </a:p>
        </p:txBody>
      </p:sp>
      <p:sp>
        <p:nvSpPr>
          <p:cNvPr id="15" name="GROK BUILD SWARM caption"/>
          <p:cNvSpPr txBox="1"/>
          <p:nvPr/>
        </p:nvSpPr>
        <p:spPr>
          <a:xfrm>
            <a:off x="6254495" y="5415533"/>
            <a:ext cx="5120640" cy="573786"/>
          </a:xfrm>
          <a:prstGeom prst="rect">
            <a:avLst/>
          </a:prstGeom>
          <a:noFill/>
        </p:spPr>
        <p:txBody>
          <a:bodyPr wrap="square" lIns="0" rIns="0" tIns="0" bIns="0" anchor="t">
            <a:noAutofit/>
          </a:bodyPr>
          <a:lstStyle/>
          <a:p>
            <a:pPr algn="l"/>
            <a:r>
              <a:rPr sz="1500" b="0" i="0">
                <a:solidFill>
                  <a:srgbClr val="14191F"/>
                </a:solidFill>
                <a:latin typeface="Space Grotesk"/>
              </a:rPr>
              <a:t>The same numbers, and all 12 months render as bars.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The chat’s app did not load</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SIDE BY SIDE: TASK 2, FIX AN 8-SCREEN APP</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Source: grok-bakeoff harness, sweep-results/web-1/dashboard.png and sweep-results/swarm-1/dashboard.png (top 600 px); sweep-results/scores.csv (fixed). Oct 27, 2026.</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sp>
        <p:nvSpPr>
          <p:cNvPr id="6" name="GROK.COM CHAT label"/>
          <p:cNvSpPr txBox="1"/>
          <p:nvPr/>
        </p:nvSpPr>
        <p:spPr>
          <a:xfrm>
            <a:off x="813816" y="1783080"/>
            <a:ext cx="5120640" cy="274320"/>
          </a:xfrm>
          <a:prstGeom prst="rect">
            <a:avLst/>
          </a:prstGeom>
          <a:noFill/>
        </p:spPr>
        <p:txBody>
          <a:bodyPr wrap="square" lIns="0" rIns="0" tIns="0" bIns="0" anchor="t">
            <a:noAutofit/>
          </a:bodyPr>
          <a:lstStyle/>
          <a:p>
            <a:pPr algn="l"/>
            <a:r>
              <a:rPr sz="1400" b="1" i="0">
                <a:solidFill>
                  <a:srgbClr val="B8430F"/>
                </a:solidFill>
                <a:latin typeface="JetBrains Mono"/>
              </a:rPr>
              <a:t>GROK.COM CHAT</a:t>
            </a:r>
            <a:r>
              <a:rPr sz="1500" b="1" i="0">
                <a:solidFill>
                  <a:srgbClr val="14191F"/>
                </a:solidFill>
                <a:latin typeface="Space Grotesk"/>
              </a:rPr>
              <a:t>   0 of 16 defects fixed</a:t>
            </a:r>
          </a:p>
        </p:txBody>
      </p:sp>
      <p:pic>
        <p:nvPicPr>
          <p:cNvPr id="7" name="GROK.COM CHAT screenshot" descr="task2-chat.png"/>
          <p:cNvPicPr>
            <a:picLocks noChangeAspect="1"/>
          </p:cNvPicPr>
          <p:nvPr/>
        </p:nvPicPr>
        <p:blipFill>
          <a:blip r:embed="rId3"/>
          <a:stretch>
            <a:fillRect/>
          </a:stretch>
        </p:blipFill>
        <p:spPr>
          <a:xfrm>
            <a:off x="813816" y="2167128"/>
            <a:ext cx="5120640" cy="2400300"/>
          </a:xfrm>
          <a:prstGeom prst="rect">
            <a:avLst/>
          </a:prstGeom>
          <a:ln w="12700">
            <a:solidFill>
              <a:srgbClr val="DFDCD7"/>
            </a:solidFill>
          </a:ln>
        </p:spPr>
      </p:pic>
      <p:sp>
        <p:nvSpPr>
          <p:cNvPr id="8" name="GROK.COM CHAT caption"/>
          <p:cNvSpPr txBox="1"/>
          <p:nvPr/>
        </p:nvSpPr>
        <p:spPr>
          <a:xfrm>
            <a:off x="813816" y="4695443"/>
            <a:ext cx="5120640" cy="1293876"/>
          </a:xfrm>
          <a:prstGeom prst="rect">
            <a:avLst/>
          </a:prstGeom>
          <a:noFill/>
        </p:spPr>
        <p:txBody>
          <a:bodyPr wrap="square" lIns="0" rIns="0" tIns="0" bIns="0" anchor="t">
            <a:noAutofit/>
          </a:bodyPr>
          <a:lstStyle/>
          <a:p>
            <a:pPr algn="l"/>
            <a:r>
              <a:rPr sz="1500" b="0" i="0">
                <a:solidFill>
                  <a:srgbClr val="14191F"/>
                </a:solidFill>
                <a:latin typeface="Space Grotesk"/>
              </a:rPr>
              <a:t>One placeholder file broke every screen.</a:t>
            </a:r>
          </a:p>
          <a:p>
            <a:pPr algn="l"/>
            <a:r>
              <a:rPr sz="1300" b="0" i="0">
                <a:solidFill>
                  <a:srgbClr val="4A5361"/>
                </a:solidFill>
                <a:latin typeface="Space Grotesk"/>
              </a:rPr>
              <a:t>Spending.vue held one line: PLACEHOLDER_FOR_SPENDING_CONTENT.</a:t>
            </a:r>
          </a:p>
        </p:txBody>
      </p:sp>
      <p:sp>
        <p:nvSpPr>
          <p:cNvPr id="9" name="GROK BUILD SWARM label"/>
          <p:cNvSpPr txBox="1"/>
          <p:nvPr/>
        </p:nvSpPr>
        <p:spPr>
          <a:xfrm>
            <a:off x="6254495" y="1783080"/>
            <a:ext cx="5120640" cy="274320"/>
          </a:xfrm>
          <a:prstGeom prst="rect">
            <a:avLst/>
          </a:prstGeom>
          <a:noFill/>
        </p:spPr>
        <p:txBody>
          <a:bodyPr wrap="square" lIns="0" rIns="0" tIns="0" bIns="0" anchor="t">
            <a:noAutofit/>
          </a:bodyPr>
          <a:lstStyle/>
          <a:p>
            <a:pPr algn="l"/>
            <a:r>
              <a:rPr sz="1400" b="1" i="0">
                <a:solidFill>
                  <a:srgbClr val="B8430F"/>
                </a:solidFill>
                <a:latin typeface="JetBrains Mono"/>
              </a:rPr>
              <a:t>GROK BUILD SWARM</a:t>
            </a:r>
            <a:r>
              <a:rPr sz="1500" b="1" i="0">
                <a:solidFill>
                  <a:srgbClr val="14191F"/>
                </a:solidFill>
                <a:latin typeface="Space Grotesk"/>
              </a:rPr>
              <a:t>   16 of 16 defects fixed</a:t>
            </a:r>
          </a:p>
        </p:txBody>
      </p:sp>
      <p:pic>
        <p:nvPicPr>
          <p:cNvPr id="10" name="GROK BUILD SWARM screenshot" descr="task2-swarm.png"/>
          <p:cNvPicPr>
            <a:picLocks noChangeAspect="1"/>
          </p:cNvPicPr>
          <p:nvPr/>
        </p:nvPicPr>
        <p:blipFill>
          <a:blip r:embed="rId4"/>
          <a:stretch>
            <a:fillRect/>
          </a:stretch>
        </p:blipFill>
        <p:spPr>
          <a:xfrm>
            <a:off x="6254495" y="2167128"/>
            <a:ext cx="5120640" cy="2400300"/>
          </a:xfrm>
          <a:prstGeom prst="rect">
            <a:avLst/>
          </a:prstGeom>
          <a:ln w="12700">
            <a:solidFill>
              <a:srgbClr val="DFDCD7"/>
            </a:solidFill>
          </a:ln>
        </p:spPr>
      </p:pic>
      <p:sp>
        <p:nvSpPr>
          <p:cNvPr id="11" name="GROK BUILD SWARM caption"/>
          <p:cNvSpPr txBox="1"/>
          <p:nvPr/>
        </p:nvSpPr>
        <p:spPr>
          <a:xfrm>
            <a:off x="6254495" y="4695443"/>
            <a:ext cx="5120640" cy="1293876"/>
          </a:xfrm>
          <a:prstGeom prst="rect">
            <a:avLst/>
          </a:prstGeom>
          <a:noFill/>
        </p:spPr>
        <p:txBody>
          <a:bodyPr wrap="square" lIns="0" rIns="0" tIns="0" bIns="0" anchor="t">
            <a:noAutofit/>
          </a:bodyPr>
          <a:lstStyle/>
          <a:p>
            <a:pPr algn="l"/>
            <a:r>
              <a:rPr sz="1500" b="0" i="0">
                <a:solidFill>
                  <a:srgbClr val="14191F"/>
                </a:solidFill>
                <a:latin typeface="Space Grotesk"/>
              </a:rPr>
              <a:t>All 8 screens load with the corrected numbers.</a:t>
            </a:r>
          </a:p>
          <a:p>
            <a:pPr algn="l"/>
            <a:r>
              <a:rPr sz="1300" b="0" i="0">
                <a:solidFill>
                  <a:srgbClr val="4A5361"/>
                </a:solidFill>
                <a:latin typeface="Space Grotesk"/>
              </a:rPr>
              <a:t>It fixed 8 listed data bugs and 8 unlisted accessibility defects.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Research backs guardrails over more agents</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INDUSTRY RESEARCH</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Sources: DORA 2025 (Google Cloud blog, Sep 23, 2025); Stack Overflow Developer Survey 2025 (AI section); Anthropic Engineering (Jun 13, 2025); Cursor blog (Jan 9, 2026); cursor/plugins pstack README; YC AI Startup School talk (Jun 17, 2025).</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sp>
        <p:nvSpPr>
          <p:cNvPr id="6" name="TextBox 5"/>
          <p:cNvSpPr txBox="1"/>
          <p:nvPr/>
        </p:nvSpPr>
        <p:spPr>
          <a:xfrm>
            <a:off x="813816" y="1783080"/>
            <a:ext cx="5852160" cy="320040"/>
          </a:xfrm>
          <a:prstGeom prst="rect">
            <a:avLst/>
          </a:prstGeom>
          <a:noFill/>
        </p:spPr>
        <p:txBody>
          <a:bodyPr wrap="square" lIns="0" rIns="0" tIns="0" bIns="0" anchor="t">
            <a:noAutofit/>
          </a:bodyPr>
          <a:lstStyle/>
          <a:p>
            <a:pPr algn="l"/>
            <a:r>
              <a:rPr sz="1400" b="1" i="0">
                <a:solidFill>
                  <a:srgbClr val="B8430F"/>
                </a:solidFill>
                <a:latin typeface="JetBrains Mono"/>
              </a:rPr>
              <a:t>WHAT THE EVIDENCE SAYS</a:t>
            </a:r>
          </a:p>
        </p:txBody>
      </p:sp>
      <p:sp>
        <p:nvSpPr>
          <p:cNvPr id="7" name="TextBox 6"/>
          <p:cNvSpPr txBox="1"/>
          <p:nvPr/>
        </p:nvSpPr>
        <p:spPr>
          <a:xfrm>
            <a:off x="813816" y="2240280"/>
            <a:ext cx="1463040" cy="868680"/>
          </a:xfrm>
          <a:prstGeom prst="rect">
            <a:avLst/>
          </a:prstGeom>
          <a:noFill/>
        </p:spPr>
        <p:txBody>
          <a:bodyPr wrap="square" lIns="0" rIns="0" tIns="0" bIns="0" anchor="ctr">
            <a:noAutofit/>
          </a:bodyPr>
          <a:lstStyle/>
          <a:p>
            <a:pPr algn="l"/>
            <a:r>
              <a:rPr sz="3600" b="1" i="0">
                <a:solidFill>
                  <a:srgbClr val="14191F"/>
                </a:solidFill>
                <a:latin typeface="Space Grotesk"/>
              </a:rPr>
              <a:t>90%</a:t>
            </a:r>
          </a:p>
        </p:txBody>
      </p:sp>
      <p:sp>
        <p:nvSpPr>
          <p:cNvPr id="8" name="TextBox 7"/>
          <p:cNvSpPr txBox="1"/>
          <p:nvPr/>
        </p:nvSpPr>
        <p:spPr>
          <a:xfrm>
            <a:off x="2368296" y="2240280"/>
            <a:ext cx="4297680" cy="868680"/>
          </a:xfrm>
          <a:prstGeom prst="rect">
            <a:avLst/>
          </a:prstGeom>
          <a:noFill/>
        </p:spPr>
        <p:txBody>
          <a:bodyPr wrap="square" lIns="0" rIns="0" tIns="0" bIns="0" anchor="ctr">
            <a:noAutofit/>
          </a:bodyPr>
          <a:lstStyle/>
          <a:p>
            <a:pPr algn="l">
              <a:spcAft>
                <a:spcPts val="200"/>
              </a:spcAft>
            </a:pPr>
            <a:r>
              <a:rPr sz="1500" b="0" i="0">
                <a:solidFill>
                  <a:srgbClr val="14191F"/>
                </a:solidFill>
                <a:latin typeface="Space Grotesk"/>
              </a:rPr>
              <a:t>of nearly 5,000 respondents use AI at work. AI amplifies what a team already has.</a:t>
            </a:r>
          </a:p>
          <a:p>
            <a:pPr algn="l">
              <a:spcAft>
                <a:spcPts val="200"/>
              </a:spcAft>
            </a:pPr>
            <a:r>
              <a:rPr sz="1200" b="0" i="0">
                <a:solidFill>
                  <a:srgbClr val="4A5361"/>
                </a:solidFill>
                <a:latin typeface="Space Grotesk"/>
              </a:rPr>
              <a:t>DORA 2025 report</a:t>
            </a:r>
          </a:p>
        </p:txBody>
      </p:sp>
      <p:cxnSp>
        <p:nvCxnSpPr>
          <p:cNvPr id="9" name="Connector 8"/>
          <p:cNvCxnSpPr/>
          <p:nvPr/>
        </p:nvCxnSpPr>
        <p:spPr>
          <a:xfrm>
            <a:off x="813816" y="3227832"/>
            <a:ext cx="5852160"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13816" y="3337560"/>
            <a:ext cx="1463040" cy="868680"/>
          </a:xfrm>
          <a:prstGeom prst="rect">
            <a:avLst/>
          </a:prstGeom>
          <a:noFill/>
        </p:spPr>
        <p:txBody>
          <a:bodyPr wrap="square" lIns="0" rIns="0" tIns="0" bIns="0" anchor="ctr">
            <a:noAutofit/>
          </a:bodyPr>
          <a:lstStyle/>
          <a:p>
            <a:pPr algn="l"/>
            <a:r>
              <a:rPr sz="3600" b="1" i="0">
                <a:solidFill>
                  <a:srgbClr val="14191F"/>
                </a:solidFill>
                <a:latin typeface="Space Grotesk"/>
              </a:rPr>
              <a:t>46%</a:t>
            </a:r>
          </a:p>
        </p:txBody>
      </p:sp>
      <p:sp>
        <p:nvSpPr>
          <p:cNvPr id="11" name="TextBox 10"/>
          <p:cNvSpPr txBox="1"/>
          <p:nvPr/>
        </p:nvSpPr>
        <p:spPr>
          <a:xfrm>
            <a:off x="2368296" y="3337560"/>
            <a:ext cx="4297680" cy="868680"/>
          </a:xfrm>
          <a:prstGeom prst="rect">
            <a:avLst/>
          </a:prstGeom>
          <a:noFill/>
        </p:spPr>
        <p:txBody>
          <a:bodyPr wrap="square" lIns="0" rIns="0" tIns="0" bIns="0" anchor="ctr">
            <a:noAutofit/>
          </a:bodyPr>
          <a:lstStyle/>
          <a:p>
            <a:pPr algn="l">
              <a:spcAft>
                <a:spcPts val="200"/>
              </a:spcAft>
            </a:pPr>
            <a:r>
              <a:rPr sz="1500" b="0" i="0">
                <a:solidFill>
                  <a:srgbClr val="14191F"/>
                </a:solidFill>
                <a:latin typeface="Space Grotesk"/>
              </a:rPr>
              <a:t>of developers distrust the accuracy of AI tools; 33% trust it (33,244 responses).</a:t>
            </a:r>
          </a:p>
          <a:p>
            <a:pPr algn="l">
              <a:spcAft>
                <a:spcPts val="200"/>
              </a:spcAft>
            </a:pPr>
            <a:r>
              <a:rPr sz="1200" b="0" i="0">
                <a:solidFill>
                  <a:srgbClr val="4A5361"/>
                </a:solidFill>
                <a:latin typeface="Space Grotesk"/>
              </a:rPr>
              <a:t>Stack Overflow Developer Survey 2025</a:t>
            </a:r>
          </a:p>
        </p:txBody>
      </p:sp>
      <p:cxnSp>
        <p:nvCxnSpPr>
          <p:cNvPr id="12" name="Connector 11"/>
          <p:cNvCxnSpPr/>
          <p:nvPr/>
        </p:nvCxnSpPr>
        <p:spPr>
          <a:xfrm>
            <a:off x="813816" y="4325112"/>
            <a:ext cx="5852160"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3816" y="4434840"/>
            <a:ext cx="1463040" cy="868680"/>
          </a:xfrm>
          <a:prstGeom prst="rect">
            <a:avLst/>
          </a:prstGeom>
          <a:noFill/>
        </p:spPr>
        <p:txBody>
          <a:bodyPr wrap="square" lIns="0" rIns="0" tIns="0" bIns="0" anchor="ctr">
            <a:noAutofit/>
          </a:bodyPr>
          <a:lstStyle/>
          <a:p>
            <a:pPr algn="l"/>
            <a:r>
              <a:rPr sz="3600" b="1" i="0">
                <a:solidFill>
                  <a:srgbClr val="14191F"/>
                </a:solidFill>
                <a:latin typeface="Space Grotesk"/>
              </a:rPr>
              <a:t>15×</a:t>
            </a:r>
          </a:p>
        </p:txBody>
      </p:sp>
      <p:sp>
        <p:nvSpPr>
          <p:cNvPr id="14" name="TextBox 13"/>
          <p:cNvSpPr txBox="1"/>
          <p:nvPr/>
        </p:nvSpPr>
        <p:spPr>
          <a:xfrm>
            <a:off x="2368296" y="4434840"/>
            <a:ext cx="4297680" cy="868680"/>
          </a:xfrm>
          <a:prstGeom prst="rect">
            <a:avLst/>
          </a:prstGeom>
          <a:noFill/>
        </p:spPr>
        <p:txBody>
          <a:bodyPr wrap="square" lIns="0" rIns="0" tIns="0" bIns="0" anchor="ctr">
            <a:noAutofit/>
          </a:bodyPr>
          <a:lstStyle/>
          <a:p>
            <a:pPr algn="l">
              <a:spcAft>
                <a:spcPts val="200"/>
              </a:spcAft>
            </a:pPr>
            <a:r>
              <a:rPr sz="1500" b="0" i="0">
                <a:solidFill>
                  <a:srgbClr val="14191F"/>
                </a:solidFill>
                <a:latin typeface="Space Grotesk"/>
              </a:rPr>
              <a:t>more tokens for multi-agent systems than for chats. Coding is less parallel than research.</a:t>
            </a:r>
          </a:p>
          <a:p>
            <a:pPr algn="l">
              <a:spcAft>
                <a:spcPts val="200"/>
              </a:spcAft>
            </a:pPr>
            <a:r>
              <a:rPr sz="1200" b="0" i="0">
                <a:solidFill>
                  <a:srgbClr val="4A5361"/>
                </a:solidFill>
                <a:latin typeface="Space Grotesk"/>
              </a:rPr>
              <a:t>Anthropic Engineering, Jun 2025</a:t>
            </a:r>
          </a:p>
        </p:txBody>
      </p:sp>
      <p:sp>
        <p:nvSpPr>
          <p:cNvPr id="15" name="Builders card"/>
          <p:cNvSpPr/>
          <p:nvPr/>
        </p:nvSpPr>
        <p:spPr>
          <a:xfrm>
            <a:off x="6986016" y="1783080"/>
            <a:ext cx="4389120" cy="4069080"/>
          </a:xfrm>
          <a:prstGeom prst="roundRect">
            <a:avLst>
              <a:gd name="adj" fmla="val 4044"/>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78624" y="2029968"/>
            <a:ext cx="3803904" cy="274320"/>
          </a:xfrm>
          <a:prstGeom prst="rect">
            <a:avLst/>
          </a:prstGeom>
          <a:noFill/>
        </p:spPr>
        <p:txBody>
          <a:bodyPr wrap="square" lIns="0" rIns="0" tIns="0" bIns="0" anchor="t">
            <a:noAutofit/>
          </a:bodyPr>
          <a:lstStyle/>
          <a:p>
            <a:pPr algn="l"/>
            <a:r>
              <a:rPr sz="1400" b="1" i="0">
                <a:solidFill>
                  <a:srgbClr val="A9B4BF"/>
                </a:solidFill>
                <a:latin typeface="JetBrains Mono"/>
              </a:rPr>
              <a:t>WHAT THE BUILDERS SAY</a:t>
            </a:r>
          </a:p>
        </p:txBody>
      </p:sp>
      <p:sp>
        <p:nvSpPr>
          <p:cNvPr id="17" name="TextBox 16"/>
          <p:cNvSpPr txBox="1"/>
          <p:nvPr/>
        </p:nvSpPr>
        <p:spPr>
          <a:xfrm>
            <a:off x="7278624" y="2432304"/>
            <a:ext cx="3803904" cy="822960"/>
          </a:xfrm>
          <a:prstGeom prst="rect">
            <a:avLst/>
          </a:prstGeom>
          <a:noFill/>
        </p:spPr>
        <p:txBody>
          <a:bodyPr wrap="square" lIns="0" rIns="0" tIns="0" bIns="0" anchor="t">
            <a:noAutofit/>
          </a:bodyPr>
          <a:lstStyle/>
          <a:p>
            <a:pPr algn="l">
              <a:spcAft>
                <a:spcPts val="300"/>
              </a:spcAft>
            </a:pPr>
            <a:r>
              <a:rPr sz="1600" b="1" i="0">
                <a:solidFill>
                  <a:srgbClr val="FF7A3D"/>
                </a:solidFill>
                <a:latin typeface="Space Grotesk"/>
              </a:rPr>
              <a:t>Lee Robinson</a:t>
            </a:r>
            <a:r>
              <a:rPr sz="1200" b="0" i="0">
                <a:solidFill>
                  <a:srgbClr val="A9B4BF"/>
                </a:solidFill>
                <a:latin typeface="Space Grotesk"/>
              </a:rPr>
              <a:t>  Cursor blog, Jan 2026</a:t>
            </a:r>
          </a:p>
          <a:p>
            <a:pPr algn="l">
              <a:spcAft>
                <a:spcPts val="300"/>
              </a:spcAft>
            </a:pPr>
            <a:r>
              <a:rPr sz="1500" b="0" i="0">
                <a:solidFill>
                  <a:srgbClr val="EDEAE3"/>
                </a:solidFill>
                <a:latin typeface="Space Grotesk"/>
              </a:rPr>
              <a:t>“Add rules only when you notice the agent making the same mistake repeatedly.”</a:t>
            </a:r>
          </a:p>
        </p:txBody>
      </p:sp>
      <p:cxnSp>
        <p:nvCxnSpPr>
          <p:cNvPr id="18" name="Connector 17"/>
          <p:cNvCxnSpPr/>
          <p:nvPr/>
        </p:nvCxnSpPr>
        <p:spPr>
          <a:xfrm>
            <a:off x="7278624" y="3346704"/>
            <a:ext cx="3803904"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278624" y="3438144"/>
            <a:ext cx="3803904" cy="1005840"/>
          </a:xfrm>
          <a:prstGeom prst="rect">
            <a:avLst/>
          </a:prstGeom>
          <a:noFill/>
        </p:spPr>
        <p:txBody>
          <a:bodyPr wrap="square" lIns="0" rIns="0" tIns="0" bIns="0" anchor="t">
            <a:noAutofit/>
          </a:bodyPr>
          <a:lstStyle/>
          <a:p>
            <a:pPr algn="l">
              <a:spcAft>
                <a:spcPts val="300"/>
              </a:spcAft>
            </a:pPr>
            <a:r>
              <a:rPr sz="1600" b="1" i="0">
                <a:solidFill>
                  <a:srgbClr val="FF7A3D"/>
                </a:solidFill>
                <a:latin typeface="Space Grotesk"/>
              </a:rPr>
              <a:t>Lauren Tan</a:t>
            </a:r>
            <a:r>
              <a:rPr sz="1200" b="0" i="0">
                <a:solidFill>
                  <a:srgbClr val="A9B4BF"/>
                </a:solidFill>
                <a:latin typeface="Space Grotesk"/>
              </a:rPr>
              <a:t>  pstack plugin for Cursor</a:t>
            </a:r>
          </a:p>
          <a:p>
            <a:pPr algn="l">
              <a:spcAft>
                <a:spcPts val="300"/>
              </a:spcAft>
            </a:pPr>
            <a:r>
              <a:rPr sz="1500" b="0" i="0">
                <a:solidFill>
                  <a:srgbClr val="EDEAE3"/>
                </a:solidFill>
                <a:latin typeface="Space Grotesk"/>
              </a:rPr>
              <a:t>“Encode the rule as a lint, metadata flag, runtime check, or script instead of more text.”</a:t>
            </a:r>
          </a:p>
        </p:txBody>
      </p:sp>
      <p:cxnSp>
        <p:nvCxnSpPr>
          <p:cNvPr id="20" name="Connector 19"/>
          <p:cNvCxnSpPr/>
          <p:nvPr/>
        </p:nvCxnSpPr>
        <p:spPr>
          <a:xfrm>
            <a:off x="7278624" y="4535424"/>
            <a:ext cx="3803904"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78624" y="4626864"/>
            <a:ext cx="3803904" cy="1234440"/>
          </a:xfrm>
          <a:prstGeom prst="rect">
            <a:avLst/>
          </a:prstGeom>
          <a:noFill/>
        </p:spPr>
        <p:txBody>
          <a:bodyPr wrap="square" lIns="0" rIns="0" tIns="0" bIns="0" anchor="t">
            <a:noAutofit/>
          </a:bodyPr>
          <a:lstStyle/>
          <a:p>
            <a:pPr algn="l">
              <a:spcAft>
                <a:spcPts val="300"/>
              </a:spcAft>
            </a:pPr>
            <a:r>
              <a:rPr sz="1600" b="1" i="0">
                <a:solidFill>
                  <a:srgbClr val="FF7A3D"/>
                </a:solidFill>
                <a:latin typeface="Space Grotesk"/>
              </a:rPr>
              <a:t>Andrej Karpathy</a:t>
            </a:r>
            <a:r>
              <a:rPr sz="1200" b="0" i="0">
                <a:solidFill>
                  <a:srgbClr val="A9B4BF"/>
                </a:solidFill>
                <a:latin typeface="Space Grotesk"/>
              </a:rPr>
              <a:t>  YC talk, Jun 2025</a:t>
            </a:r>
          </a:p>
          <a:p>
            <a:pPr algn="l">
              <a:spcAft>
                <a:spcPts val="300"/>
              </a:spcAft>
            </a:pPr>
            <a:r>
              <a:rPr sz="1500" b="0" i="0">
                <a:solidFill>
                  <a:srgbClr val="EDEAE3"/>
                </a:solidFill>
                <a:latin typeface="Space Grotesk"/>
              </a:rPr>
              <a:t>“…we as humans are doing the verification. It is in our interest to make this loop go as fast as possible.”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The spec and the gate did the most work</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VALUE BY PART, HIGHEST FIRST</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Sources: grok-bakeoff results/scores.csv (checklist); cursor-agent-swarm HANDOFF.md (dry run); reviewer finding on grok-bakeoff-arena run/swarm-1, FilterBar.tsx:17.</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sp>
        <p:nvSpPr>
          <p:cNvPr id="6" name="Step 1"/>
          <p:cNvSpPr/>
          <p:nvPr/>
        </p:nvSpPr>
        <p:spPr>
          <a:xfrm>
            <a:off x="813816" y="1792224"/>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1</a:t>
            </a:r>
          </a:p>
        </p:txBody>
      </p:sp>
      <p:sp>
        <p:nvSpPr>
          <p:cNvPr id="7" name="TextBox 6"/>
          <p:cNvSpPr txBox="1"/>
          <p:nvPr/>
        </p:nvSpPr>
        <p:spPr>
          <a:xfrm>
            <a:off x="1435608" y="1755648"/>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Project spec</a:t>
            </a:r>
          </a:p>
        </p:txBody>
      </p:sp>
      <p:sp>
        <p:nvSpPr>
          <p:cNvPr id="8" name="TextBox 7"/>
          <p:cNvSpPr txBox="1"/>
          <p:nvPr/>
        </p:nvSpPr>
        <p:spPr>
          <a:xfrm>
            <a:off x="3904487" y="1755648"/>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It turned “done” into checks; every Grok Build setup met 11 of 11 spec items.</a:t>
            </a:r>
          </a:p>
        </p:txBody>
      </p:sp>
      <p:cxnSp>
        <p:nvCxnSpPr>
          <p:cNvPr id="9" name="Connector 8"/>
          <p:cNvCxnSpPr/>
          <p:nvPr/>
        </p:nvCxnSpPr>
        <p:spPr>
          <a:xfrm>
            <a:off x="1435608" y="2304288"/>
            <a:ext cx="9939528"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10" name="Step 2"/>
          <p:cNvSpPr/>
          <p:nvPr/>
        </p:nvSpPr>
        <p:spPr>
          <a:xfrm>
            <a:off x="813816" y="2377440"/>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2</a:t>
            </a:r>
          </a:p>
        </p:txBody>
      </p:sp>
      <p:sp>
        <p:nvSpPr>
          <p:cNvPr id="11" name="TextBox 10"/>
          <p:cNvSpPr txBox="1"/>
          <p:nvPr/>
        </p:nvSpPr>
        <p:spPr>
          <a:xfrm>
            <a:off x="1435608" y="2340864"/>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Hooks (the gate)</a:t>
            </a:r>
          </a:p>
        </p:txBody>
      </p:sp>
      <p:sp>
        <p:nvSpPr>
          <p:cNvPr id="12" name="TextBox 11"/>
          <p:cNvSpPr txBox="1"/>
          <p:nvPr/>
        </p:nvSpPr>
        <p:spPr>
          <a:xfrm>
            <a:off x="3904487" y="2340864"/>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No agent can finish until type-check, lint, tests and build pass.</a:t>
            </a:r>
          </a:p>
        </p:txBody>
      </p:sp>
      <p:cxnSp>
        <p:nvCxnSpPr>
          <p:cNvPr id="13" name="Connector 12"/>
          <p:cNvCxnSpPr/>
          <p:nvPr/>
        </p:nvCxnSpPr>
        <p:spPr>
          <a:xfrm>
            <a:off x="1435608" y="2889504"/>
            <a:ext cx="9939528"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14" name="Step 3"/>
          <p:cNvSpPr/>
          <p:nvPr/>
        </p:nvSpPr>
        <p:spPr>
          <a:xfrm>
            <a:off x="813816" y="2962656"/>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3</a:t>
            </a:r>
          </a:p>
        </p:txBody>
      </p:sp>
      <p:sp>
        <p:nvSpPr>
          <p:cNvPr id="15" name="TextBox 14"/>
          <p:cNvSpPr txBox="1"/>
          <p:nvPr/>
        </p:nvSpPr>
        <p:spPr>
          <a:xfrm>
            <a:off x="1435608" y="2926080"/>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Agent roles</a:t>
            </a:r>
          </a:p>
        </p:txBody>
      </p:sp>
      <p:sp>
        <p:nvSpPr>
          <p:cNvPr id="16" name="TextBox 15"/>
          <p:cNvSpPr txBox="1"/>
          <p:nvPr/>
        </p:nvSpPr>
        <p:spPr>
          <a:xfrm>
            <a:off x="3904487" y="2926080"/>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A separate reviewer caught a low-contrast border that the builder missed.</a:t>
            </a:r>
          </a:p>
        </p:txBody>
      </p:sp>
      <p:cxnSp>
        <p:nvCxnSpPr>
          <p:cNvPr id="17" name="Connector 16"/>
          <p:cNvCxnSpPr/>
          <p:nvPr/>
        </p:nvCxnSpPr>
        <p:spPr>
          <a:xfrm>
            <a:off x="1435608" y="3474720"/>
            <a:ext cx="9939528"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18" name="Step 4"/>
          <p:cNvSpPr/>
          <p:nvPr/>
        </p:nvSpPr>
        <p:spPr>
          <a:xfrm>
            <a:off x="813816" y="3547872"/>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4</a:t>
            </a:r>
          </a:p>
        </p:txBody>
      </p:sp>
      <p:sp>
        <p:nvSpPr>
          <p:cNvPr id="19" name="TextBox 18"/>
          <p:cNvSpPr txBox="1"/>
          <p:nvPr/>
        </p:nvSpPr>
        <p:spPr>
          <a:xfrm>
            <a:off x="1435608" y="3511296"/>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Rules (AGENTS.md)</a:t>
            </a:r>
          </a:p>
        </p:txBody>
      </p:sp>
      <p:sp>
        <p:nvSpPr>
          <p:cNvPr id="20" name="TextBox 19"/>
          <p:cNvSpPr txBox="1"/>
          <p:nvPr/>
        </p:nvSpPr>
        <p:spPr>
          <a:xfrm>
            <a:off x="3904487" y="3511296"/>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One owner per file let three agents build at the same time with no collisions.</a:t>
            </a:r>
          </a:p>
        </p:txBody>
      </p:sp>
      <p:cxnSp>
        <p:nvCxnSpPr>
          <p:cNvPr id="21" name="Connector 20"/>
          <p:cNvCxnSpPr/>
          <p:nvPr/>
        </p:nvCxnSpPr>
        <p:spPr>
          <a:xfrm>
            <a:off x="1435608" y="4059935"/>
            <a:ext cx="9939528"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22" name="Step 5"/>
          <p:cNvSpPr/>
          <p:nvPr/>
        </p:nvSpPr>
        <p:spPr>
          <a:xfrm>
            <a:off x="813816" y="4133088"/>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5</a:t>
            </a:r>
          </a:p>
        </p:txBody>
      </p:sp>
      <p:sp>
        <p:nvSpPr>
          <p:cNvPr id="23" name="TextBox 22"/>
          <p:cNvSpPr txBox="1"/>
          <p:nvPr/>
        </p:nvSpPr>
        <p:spPr>
          <a:xfrm>
            <a:off x="1435608" y="4096512"/>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Skills</a:t>
            </a:r>
          </a:p>
        </p:txBody>
      </p:sp>
      <p:sp>
        <p:nvSpPr>
          <p:cNvPr id="24" name="TextBox 23"/>
          <p:cNvSpPr txBox="1"/>
          <p:nvPr/>
        </p:nvSpPr>
        <p:spPr>
          <a:xfrm>
            <a:off x="3904487" y="4096512"/>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A saved procedure runs the same plan, build and review steps on every run.</a:t>
            </a:r>
          </a:p>
        </p:txBody>
      </p:sp>
      <p:cxnSp>
        <p:nvCxnSpPr>
          <p:cNvPr id="25" name="Connector 24"/>
          <p:cNvCxnSpPr/>
          <p:nvPr/>
        </p:nvCxnSpPr>
        <p:spPr>
          <a:xfrm>
            <a:off x="1435608" y="4645152"/>
            <a:ext cx="9939528"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26" name="Step 6"/>
          <p:cNvSpPr/>
          <p:nvPr/>
        </p:nvSpPr>
        <p:spPr>
          <a:xfrm>
            <a:off x="813816" y="4718304"/>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6</a:t>
            </a:r>
          </a:p>
        </p:txBody>
      </p:sp>
      <p:sp>
        <p:nvSpPr>
          <p:cNvPr id="27" name="TextBox 26"/>
          <p:cNvSpPr txBox="1"/>
          <p:nvPr/>
        </p:nvSpPr>
        <p:spPr>
          <a:xfrm>
            <a:off x="1435608" y="4681728"/>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Team lessons</a:t>
            </a:r>
          </a:p>
        </p:txBody>
      </p:sp>
      <p:sp>
        <p:nvSpPr>
          <p:cNvPr id="28" name="TextBox 27"/>
          <p:cNvSpPr txBox="1"/>
          <p:nvPr/>
        </p:nvSpPr>
        <p:spPr>
          <a:xfrm>
            <a:off x="3904487" y="4681728"/>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Each approved lesson reaches every agent and teammate on the next pull.</a:t>
            </a:r>
          </a:p>
        </p:txBody>
      </p:sp>
      <p:cxnSp>
        <p:nvCxnSpPr>
          <p:cNvPr id="29" name="Connector 28"/>
          <p:cNvCxnSpPr/>
          <p:nvPr/>
        </p:nvCxnSpPr>
        <p:spPr>
          <a:xfrm>
            <a:off x="1435608" y="5230368"/>
            <a:ext cx="9939528" cy="0"/>
          </a:xfrm>
          <a:prstGeom prst="line">
            <a:avLst/>
          </a:prstGeom>
          <a:ln w="9525">
            <a:solidFill>
              <a:srgbClr val="DFDCD7"/>
            </a:solidFill>
          </a:ln>
        </p:spPr>
        <p:style>
          <a:lnRef idx="2">
            <a:schemeClr val="accent1"/>
          </a:lnRef>
          <a:fillRef idx="0">
            <a:schemeClr val="accent1"/>
          </a:fillRef>
          <a:effectRef idx="1">
            <a:schemeClr val="accent1"/>
          </a:effectRef>
          <a:fontRef idx="minor">
            <a:schemeClr val="tx1"/>
          </a:fontRef>
        </p:style>
      </p:cxnSp>
      <p:sp>
        <p:nvSpPr>
          <p:cNvPr id="30" name="Step 7"/>
          <p:cNvSpPr/>
          <p:nvPr/>
        </p:nvSpPr>
        <p:spPr>
          <a:xfrm>
            <a:off x="813816" y="5303520"/>
            <a:ext cx="420624" cy="420624"/>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7</a:t>
            </a:r>
          </a:p>
        </p:txBody>
      </p:sp>
      <p:sp>
        <p:nvSpPr>
          <p:cNvPr id="31" name="TextBox 30"/>
          <p:cNvSpPr txBox="1"/>
          <p:nvPr/>
        </p:nvSpPr>
        <p:spPr>
          <a:xfrm>
            <a:off x="1435608" y="5266944"/>
            <a:ext cx="2377440" cy="512064"/>
          </a:xfrm>
          <a:prstGeom prst="rect">
            <a:avLst/>
          </a:prstGeom>
          <a:noFill/>
        </p:spPr>
        <p:txBody>
          <a:bodyPr wrap="square" lIns="0" rIns="0" tIns="0" bIns="0" anchor="ctr">
            <a:noAutofit/>
          </a:bodyPr>
          <a:lstStyle/>
          <a:p>
            <a:pPr algn="l"/>
            <a:r>
              <a:rPr sz="1700" b="1" i="0">
                <a:solidFill>
                  <a:srgbClr val="14191F"/>
                </a:solidFill>
                <a:latin typeface="Space Grotesk"/>
              </a:rPr>
              <a:t>Launchers</a:t>
            </a:r>
          </a:p>
        </p:txBody>
      </p:sp>
      <p:sp>
        <p:nvSpPr>
          <p:cNvPr id="32" name="TextBox 31"/>
          <p:cNvSpPr txBox="1"/>
          <p:nvPr/>
        </p:nvSpPr>
        <p:spPr>
          <a:xfrm>
            <a:off x="3904487" y="5266944"/>
            <a:ext cx="7470648" cy="512064"/>
          </a:xfrm>
          <a:prstGeom prst="rect">
            <a:avLst/>
          </a:prstGeom>
          <a:noFill/>
        </p:spPr>
        <p:txBody>
          <a:bodyPr wrap="square" lIns="0" rIns="0" tIns="0" bIns="0" anchor="ctr">
            <a:noAutofit/>
          </a:bodyPr>
          <a:lstStyle/>
          <a:p>
            <a:pPr algn="l"/>
            <a:r>
              <a:rPr sz="1600" b="0" i="0">
                <a:solidFill>
                  <a:srgbClr val="14191F"/>
                </a:solidFill>
                <a:latin typeface="Space Grotesk"/>
              </a:rPr>
              <a:t>They load only the repo’s setup, so the demo matches what a new user gets.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896112"/>
            <a:ext cx="10561320" cy="658368"/>
          </a:xfrm>
        </p:spPr>
        <p:txBody>
          <a:bodyPr wrap="square" lIns="0" rIns="0" tIns="0" bIns="0" anchor="t"/>
          <a:lstStyle/>
          <a:p>
            <a:r>
              <a:rPr sz="3600" b="1">
                <a:solidFill>
                  <a:srgbClr val="14191F"/>
                </a:solidFill>
                <a:latin typeface="Space Grotesk"/>
              </a:rPr>
              <a:t>Start small, then add agents</a:t>
            </a:r>
          </a:p>
        </p:txBody>
      </p:sp>
      <p:sp>
        <p:nvSpPr>
          <p:cNvPr id="3" name="Kicker"/>
          <p:cNvSpPr txBox="1"/>
          <p:nvPr/>
        </p:nvSpPr>
        <p:spPr>
          <a:xfrm>
            <a:off x="813816" y="548640"/>
            <a:ext cx="10561320" cy="292608"/>
          </a:xfrm>
          <a:prstGeom prst="rect">
            <a:avLst/>
          </a:prstGeom>
          <a:noFill/>
        </p:spPr>
        <p:txBody>
          <a:bodyPr wrap="square" lIns="0" rIns="0" tIns="0" bIns="0" anchor="t">
            <a:noAutofit/>
          </a:bodyPr>
          <a:lstStyle/>
          <a:p>
            <a:pPr algn="l"/>
            <a:r>
              <a:rPr sz="1800" b="1" i="0">
                <a:solidFill>
                  <a:srgbClr val="B8430F"/>
                </a:solidFill>
                <a:latin typeface="JetBrains Mono"/>
              </a:rPr>
              <a:t>YOUR NEXT STEPS</a:t>
            </a:r>
          </a:p>
        </p:txBody>
      </p:sp>
      <p:sp>
        <p:nvSpPr>
          <p:cNvPr id="4" name="Source"/>
          <p:cNvSpPr txBox="1"/>
          <p:nvPr/>
        </p:nvSpPr>
        <p:spPr>
          <a:xfrm>
            <a:off x="813816" y="6144768"/>
            <a:ext cx="9098280" cy="411480"/>
          </a:xfrm>
          <a:prstGeom prst="rect">
            <a:avLst/>
          </a:prstGeom>
          <a:noFill/>
        </p:spPr>
        <p:txBody>
          <a:bodyPr wrap="square" lIns="0" rIns="0" tIns="0" bIns="0" anchor="t">
            <a:noAutofit/>
          </a:bodyPr>
          <a:lstStyle/>
          <a:p>
            <a:pPr algn="l"/>
            <a:r>
              <a:rPr sz="1100" b="0" i="0">
                <a:solidFill>
                  <a:srgbClr val="4A5361"/>
                </a:solidFill>
                <a:latin typeface="Space Grotesk"/>
              </a:rPr>
              <a:t>Repo: github.com/ryanjmichie-git/cursor-agent-swarm. Team guide: docs/TEAM-WORKFLOW.md. Cost comparison: grok-bakeoff sweep-results/scores.csv (cost).</a:t>
            </a:r>
          </a:p>
        </p:txBody>
      </p:sp>
      <p:sp>
        <p:nvSpPr>
          <p:cNvPr id="5" name="Presenter"/>
          <p:cNvSpPr txBox="1"/>
          <p:nvPr/>
        </p:nvSpPr>
        <p:spPr>
          <a:xfrm>
            <a:off x="10222992" y="6163056"/>
            <a:ext cx="1435608" cy="237744"/>
          </a:xfrm>
          <a:prstGeom prst="rect">
            <a:avLst/>
          </a:prstGeom>
          <a:noFill/>
        </p:spPr>
        <p:txBody>
          <a:bodyPr wrap="square" lIns="0" rIns="0" tIns="0" bIns="0" anchor="t">
            <a:noAutofit/>
          </a:bodyPr>
          <a:lstStyle/>
          <a:p>
            <a:pPr algn="l"/>
            <a:r>
              <a:rPr sz="1600" b="0" i="0">
                <a:solidFill>
                  <a:srgbClr val="4A5361"/>
                </a:solidFill>
                <a:latin typeface="Space Grotesk"/>
              </a:rPr>
              <a:t>Ryan Michie</a:t>
            </a:r>
          </a:p>
        </p:txBody>
      </p:sp>
      <p:sp>
        <p:nvSpPr>
          <p:cNvPr id="6" name="Step 1"/>
          <p:cNvSpPr/>
          <p:nvPr/>
        </p:nvSpPr>
        <p:spPr>
          <a:xfrm>
            <a:off x="813816" y="1911095"/>
            <a:ext cx="457200" cy="457200"/>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1</a:t>
            </a:r>
          </a:p>
        </p:txBody>
      </p:sp>
      <p:sp>
        <p:nvSpPr>
          <p:cNvPr id="7" name="TextBox 6"/>
          <p:cNvSpPr txBox="1"/>
          <p:nvPr/>
        </p:nvSpPr>
        <p:spPr>
          <a:xfrm>
            <a:off x="1499616" y="1783080"/>
            <a:ext cx="5120640" cy="713232"/>
          </a:xfrm>
          <a:prstGeom prst="rect">
            <a:avLst/>
          </a:prstGeom>
          <a:noFill/>
        </p:spPr>
        <p:txBody>
          <a:bodyPr wrap="square" lIns="0" rIns="0" tIns="0" bIns="0" anchor="ctr">
            <a:noAutofit/>
          </a:bodyPr>
          <a:lstStyle/>
          <a:p>
            <a:pPr algn="l"/>
            <a:r>
              <a:rPr sz="1600" b="0" i="0">
                <a:solidFill>
                  <a:srgbClr val="14191F"/>
                </a:solidFill>
                <a:latin typeface="Space Grotesk"/>
              </a:rPr>
              <a:t>Clone the repo tonight. Run the demo on your own machine.</a:t>
            </a:r>
          </a:p>
        </p:txBody>
      </p:sp>
      <p:sp>
        <p:nvSpPr>
          <p:cNvPr id="8" name="Step 2"/>
          <p:cNvSpPr/>
          <p:nvPr/>
        </p:nvSpPr>
        <p:spPr>
          <a:xfrm>
            <a:off x="813816" y="2715768"/>
            <a:ext cx="457200" cy="457200"/>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2</a:t>
            </a:r>
          </a:p>
        </p:txBody>
      </p:sp>
      <p:sp>
        <p:nvSpPr>
          <p:cNvPr id="9" name="TextBox 8"/>
          <p:cNvSpPr txBox="1"/>
          <p:nvPr/>
        </p:nvSpPr>
        <p:spPr>
          <a:xfrm>
            <a:off x="1499616" y="2587752"/>
            <a:ext cx="5120640" cy="713232"/>
          </a:xfrm>
          <a:prstGeom prst="rect">
            <a:avLst/>
          </a:prstGeom>
          <a:noFill/>
        </p:spPr>
        <p:txBody>
          <a:bodyPr wrap="square" lIns="0" rIns="0" tIns="0" bIns="0" anchor="ctr">
            <a:noAutofit/>
          </a:bodyPr>
          <a:lstStyle/>
          <a:p>
            <a:pPr algn="l"/>
            <a:r>
              <a:rPr sz="1600" b="0" i="0">
                <a:solidFill>
                  <a:srgbClr val="14191F"/>
                </a:solidFill>
                <a:latin typeface="Space Grotesk"/>
              </a:rPr>
              <a:t>Write one AGENTS.md file: your stack, your commands and who owns each file.</a:t>
            </a:r>
          </a:p>
        </p:txBody>
      </p:sp>
      <p:sp>
        <p:nvSpPr>
          <p:cNvPr id="10" name="Step 3"/>
          <p:cNvSpPr/>
          <p:nvPr/>
        </p:nvSpPr>
        <p:spPr>
          <a:xfrm>
            <a:off x="813816" y="3520440"/>
            <a:ext cx="457200" cy="457200"/>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3</a:t>
            </a:r>
          </a:p>
        </p:txBody>
      </p:sp>
      <p:sp>
        <p:nvSpPr>
          <p:cNvPr id="11" name="TextBox 10"/>
          <p:cNvSpPr txBox="1"/>
          <p:nvPr/>
        </p:nvSpPr>
        <p:spPr>
          <a:xfrm>
            <a:off x="1499616" y="3392424"/>
            <a:ext cx="5120640" cy="713232"/>
          </a:xfrm>
          <a:prstGeom prst="rect">
            <a:avLst/>
          </a:prstGeom>
          <a:noFill/>
        </p:spPr>
        <p:txBody>
          <a:bodyPr wrap="square" lIns="0" rIns="0" tIns="0" bIns="0" anchor="ctr">
            <a:noAutofit/>
          </a:bodyPr>
          <a:lstStyle/>
          <a:p>
            <a:pPr algn="l"/>
            <a:r>
              <a:rPr sz="1600" b="0" i="0">
                <a:solidFill>
                  <a:srgbClr val="14191F"/>
                </a:solidFill>
                <a:latin typeface="Space Grotesk"/>
              </a:rPr>
              <a:t>Add one gate. An agent is not done until your tests pass.</a:t>
            </a:r>
          </a:p>
        </p:txBody>
      </p:sp>
      <p:sp>
        <p:nvSpPr>
          <p:cNvPr id="12" name="Step 4"/>
          <p:cNvSpPr/>
          <p:nvPr/>
        </p:nvSpPr>
        <p:spPr>
          <a:xfrm>
            <a:off x="813816" y="4325112"/>
            <a:ext cx="457200" cy="457200"/>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4</a:t>
            </a:r>
          </a:p>
        </p:txBody>
      </p:sp>
      <p:sp>
        <p:nvSpPr>
          <p:cNvPr id="13" name="TextBox 12"/>
          <p:cNvSpPr txBox="1"/>
          <p:nvPr/>
        </p:nvSpPr>
        <p:spPr>
          <a:xfrm>
            <a:off x="1499616" y="4197096"/>
            <a:ext cx="5120640" cy="713232"/>
          </a:xfrm>
          <a:prstGeom prst="rect">
            <a:avLst/>
          </a:prstGeom>
          <a:noFill/>
        </p:spPr>
        <p:txBody>
          <a:bodyPr wrap="square" lIns="0" rIns="0" tIns="0" bIns="0" anchor="ctr">
            <a:noAutofit/>
          </a:bodyPr>
          <a:lstStyle/>
          <a:p>
            <a:pPr algn="l"/>
            <a:r>
              <a:rPr sz="1600" b="0" i="0">
                <a:solidFill>
                  <a:srgbClr val="14191F"/>
                </a:solidFill>
                <a:latin typeface="Space Grotesk"/>
              </a:rPr>
              <a:t>Add a reviewer before you add more builders. More agents cost more.</a:t>
            </a:r>
          </a:p>
        </p:txBody>
      </p:sp>
      <p:sp>
        <p:nvSpPr>
          <p:cNvPr id="14" name="Step 5"/>
          <p:cNvSpPr/>
          <p:nvPr/>
        </p:nvSpPr>
        <p:spPr>
          <a:xfrm>
            <a:off x="813816" y="5129783"/>
            <a:ext cx="457200" cy="457200"/>
          </a:xfrm>
          <a:prstGeom prst="ellipse">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7A3D"/>
                </a:solidFill>
                <a:latin typeface="JetBrains Mono"/>
              </a:rPr>
              <a:t>5</a:t>
            </a:r>
          </a:p>
        </p:txBody>
      </p:sp>
      <p:sp>
        <p:nvSpPr>
          <p:cNvPr id="15" name="TextBox 14"/>
          <p:cNvSpPr txBox="1"/>
          <p:nvPr/>
        </p:nvSpPr>
        <p:spPr>
          <a:xfrm>
            <a:off x="1499616" y="5001768"/>
            <a:ext cx="5120640" cy="713232"/>
          </a:xfrm>
          <a:prstGeom prst="rect">
            <a:avLst/>
          </a:prstGeom>
          <a:noFill/>
        </p:spPr>
        <p:txBody>
          <a:bodyPr wrap="square" lIns="0" rIns="0" tIns="0" bIns="0" anchor="ctr">
            <a:noAutofit/>
          </a:bodyPr>
          <a:lstStyle/>
          <a:p>
            <a:pPr algn="l"/>
            <a:r>
              <a:rPr sz="1600" b="0" i="0">
                <a:solidFill>
                  <a:srgbClr val="14191F"/>
                </a:solidFill>
                <a:latin typeface="Space Grotesk"/>
              </a:rPr>
              <a:t>Measure one real task: time, cost and defects. Turn repeat mistakes into checks.</a:t>
            </a:r>
          </a:p>
        </p:txBody>
      </p:sp>
      <p:sp>
        <p:nvSpPr>
          <p:cNvPr id="16" name="Take-home card"/>
          <p:cNvSpPr/>
          <p:nvPr/>
        </p:nvSpPr>
        <p:spPr>
          <a:xfrm>
            <a:off x="6803136" y="1783080"/>
            <a:ext cx="4572000" cy="4023360"/>
          </a:xfrm>
          <a:prstGeom prst="roundRect">
            <a:avLst>
              <a:gd name="adj" fmla="val 4090"/>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14032" y="2084831"/>
            <a:ext cx="3950208" cy="274320"/>
          </a:xfrm>
          <a:prstGeom prst="rect">
            <a:avLst/>
          </a:prstGeom>
          <a:noFill/>
        </p:spPr>
        <p:txBody>
          <a:bodyPr wrap="square" lIns="0" rIns="0" tIns="0" bIns="0" anchor="t">
            <a:noAutofit/>
          </a:bodyPr>
          <a:lstStyle/>
          <a:p>
            <a:pPr algn="l"/>
            <a:r>
              <a:rPr sz="1600" b="1" i="0">
                <a:solidFill>
                  <a:srgbClr val="A9B4BF"/>
                </a:solidFill>
                <a:latin typeface="JetBrains Mono"/>
              </a:rPr>
              <a:t>TAKE IT HOME</a:t>
            </a:r>
          </a:p>
        </p:txBody>
      </p:sp>
      <p:sp>
        <p:nvSpPr>
          <p:cNvPr id="18" name="TextBox 17"/>
          <p:cNvSpPr txBox="1"/>
          <p:nvPr/>
        </p:nvSpPr>
        <p:spPr>
          <a:xfrm>
            <a:off x="7114032" y="2441448"/>
            <a:ext cx="3950208" cy="411480"/>
          </a:xfrm>
          <a:prstGeom prst="rect">
            <a:avLst/>
          </a:prstGeom>
          <a:noFill/>
        </p:spPr>
        <p:txBody>
          <a:bodyPr wrap="square" lIns="0" rIns="0" tIns="0" bIns="0" anchor="t">
            <a:noAutofit/>
          </a:bodyPr>
          <a:lstStyle/>
          <a:p>
            <a:pPr algn="l"/>
            <a:r>
              <a:rPr sz="2200" b="1" i="0">
                <a:solidFill>
                  <a:srgbClr val="FF7A3D"/>
                </a:solidFill>
                <a:latin typeface="Space Grotesk"/>
              </a:rPr>
              <a:t>Scan → clone → run</a:t>
            </a:r>
          </a:p>
        </p:txBody>
      </p:sp>
      <p:pic>
        <p:nvPicPr>
          <p:cNvPr id="25" name="QR code">
            <a:extLst>
              <a:ext uri="{FF2B5EF4-FFF2-40B4-BE49-F238E27FC236}">
                <a16:creationId xmlns:a16="http://schemas.microsoft.com/office/drawing/2014/main" id="{24C3A644-7984-E2C0-E600-1C6B49D1FEA3}"/>
              </a:ext>
            </a:extLst>
          </p:cNvPr>
          <p:cNvPicPr>
            <a:picLocks noChangeAspect="1"/>
          </p:cNvPicPr>
          <p:nvPr/>
        </p:nvPicPr>
        <p:blipFill>
          <a:blip r:embed="rId3"/>
          <a:srcRect r="72700" b="18000"/>
          <a:stretch>
            <a:fillRect/>
          </a:stretch>
        </p:blipFill>
        <p:spPr>
          <a:xfrm>
            <a:off x="7114032" y="2971800"/>
            <a:ext cx="1554480" cy="1554480"/>
          </a:xfrm>
          <a:prstGeom prst="rect">
            <a:avLst/>
          </a:prstGeom>
        </p:spPr>
      </p:pic>
      <p:sp>
        <p:nvSpPr>
          <p:cNvPr id="26" name="TextBox 25"/>
          <p:cNvSpPr txBox="1"/>
          <p:nvPr/>
        </p:nvSpPr>
        <p:spPr>
          <a:xfrm>
            <a:off x="8906256" y="2971800"/>
            <a:ext cx="2157984" cy="1554480"/>
          </a:xfrm>
          <a:prstGeom prst="rect">
            <a:avLst/>
          </a:prstGeom>
          <a:noFill/>
        </p:spPr>
        <p:txBody>
          <a:bodyPr wrap="square" lIns="0" rIns="0" tIns="0" bIns="0" anchor="t">
            <a:noAutofit/>
          </a:bodyPr>
          <a:lstStyle/>
          <a:p>
            <a:pPr algn="l"/>
            <a:r>
              <a:rPr sz="1500" b="0" i="0">
                <a:solidFill>
                  <a:srgbClr val="EDEAE3"/>
                </a:solidFill>
                <a:latin typeface="Space Grotesk"/>
              </a:rPr>
              <a:t>The same agents, rules, hooks and skills you saw in the demo.</a:t>
            </a:r>
          </a:p>
        </p:txBody>
      </p:sp>
      <p:cxnSp>
        <p:nvCxnSpPr>
          <p:cNvPr id="27" name="Connector 26"/>
          <p:cNvCxnSpPr/>
          <p:nvPr/>
        </p:nvCxnSpPr>
        <p:spPr>
          <a:xfrm>
            <a:off x="7114032" y="4727448"/>
            <a:ext cx="3950208" cy="0"/>
          </a:xfrm>
          <a:prstGeom prst="line">
            <a:avLst/>
          </a:prstGeom>
          <a:ln w="9525">
            <a:solidFill>
              <a:srgbClr val="2E35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114032" y="4873752"/>
            <a:ext cx="3950208" cy="777240"/>
          </a:xfrm>
          <a:prstGeom prst="rect">
            <a:avLst/>
          </a:prstGeom>
          <a:noFill/>
        </p:spPr>
        <p:txBody>
          <a:bodyPr wrap="square" lIns="0" rIns="0" tIns="0" bIns="0" anchor="t">
            <a:noAutofit/>
          </a:bodyPr>
          <a:lstStyle/>
          <a:p>
            <a:pPr algn="l">
              <a:spcAft>
                <a:spcPts val="600"/>
              </a:spcAft>
            </a:pPr>
            <a:r>
              <a:rPr sz="1400" b="0" i="0">
                <a:solidFill>
                  <a:srgbClr val="EDEAE3"/>
                </a:solidFill>
                <a:latin typeface="JetBrains Mono"/>
              </a:rPr>
              <a:t>ryanjmichie-git/cursor-agent-swarm</a:t>
            </a:r>
          </a:p>
          <a:p>
            <a:pPr algn="l">
              <a:spcAft>
                <a:spcPts val="600"/>
              </a:spcAft>
            </a:pPr>
            <a:r>
              <a:rPr sz="1500" b="0" i="0">
                <a:solidFill>
                  <a:srgbClr val="EDEAE3"/>
                </a:solidFill>
                <a:latin typeface="Space Grotesk"/>
              </a:rPr>
              <a:t>Team guide: docs/TEAM-WORKFLOW.md</a:t>
            </a:r>
          </a:p>
        </p:txBody>
      </p:sp>
    </p:spTree>
  </p:cSld>
  <p:clrMapOvr>
    <a:masterClrMapping/>
  </p:clrMapOvr>
</p:sld>
</file>

<file path=ppt/theme/theme1.xml><?xml version="1.0" encoding="utf-8"?>
<a:theme xmlns:a="http://schemas.openxmlformats.org/drawingml/2006/main" name="Agent Swarm Booth Pitch">
  <a:themeElements>
    <a:clrScheme name="Agent Swarm Booth Pitch">
      <a:dk1>
        <a:srgbClr val="14191F"/>
      </a:dk1>
      <a:lt1>
        <a:srgbClr val="F5F2EB"/>
      </a:lt1>
      <a:dk2>
        <a:srgbClr val="4C4F52"/>
      </a:dk2>
      <a:lt2>
        <a:srgbClr val="DFDCD7"/>
      </a:lt2>
      <a:accent1>
        <a:srgbClr val="FF7A3D"/>
      </a:accent1>
      <a:accent2>
        <a:srgbClr val="B8430F"/>
      </a:accent2>
      <a:accent3>
        <a:srgbClr val="5AB0FF"/>
      </a:accent3>
      <a:accent4>
        <a:srgbClr val="4A5361"/>
      </a:accent4>
      <a:accent5>
        <a:srgbClr val="A9B4BF"/>
      </a:accent5>
      <a:accent6>
        <a:srgbClr val="9AA0A6"/>
      </a:accent6>
      <a:hlink>
        <a:srgbClr val="0563C1"/>
      </a:hlink>
      <a:folHlink>
        <a:srgbClr val="954F72"/>
      </a:folHlink>
    </a:clrScheme>
    <a:fontScheme name="Agent Swarm Booth Pitch">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340</Words>
  <Application>Microsoft Office PowerPoint</Application>
  <PresentationFormat>Widescreen</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JetBrains Mono</vt:lpstr>
      <vt:lpstr>Arial</vt:lpstr>
      <vt:lpstr>Space Grotesk</vt:lpstr>
      <vt:lpstr>Agent Swarm Booth Pitch</vt:lpstr>
      <vt:lpstr>Walk out with your own agent swarm tonight.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Swarm Booth Pitch</dc:title>
  <dc:subject/>
  <dc:creator>Ryan Michie</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dc:description>
  <cp:lastModifiedBy>Ryan Michie</cp:lastModifiedBy>
  <cp:revision>2</cp:revision>
  <dcterms:created xsi:type="dcterms:W3CDTF">2026-10-26T18:24:07Z</dcterms:created>
  <dcterms:modified xsi:type="dcterms:W3CDTF">2026-10-26T19:09:37Z</dcterms:modified>
</cp:coreProperties>
</file>